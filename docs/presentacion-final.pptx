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89a97019fa4a86" /><Relationship Type="http://schemas.openxmlformats.org/officeDocument/2006/relationships/extended-properties" Target="/docProps/app.xml" Id="R944ab5af4647400f" /><Relationship Type="http://schemas.openxmlformats.org/officeDocument/2006/relationships/officeDocument" Target="/ppt/presentation.xml" Id="Rc6cbfb8c1563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e549039e1c4ee6"/>
  </p:sldMasterIdLst>
  <p:notesMasterIdLst>
    <p:notesMasterId xmlns:r="http://schemas.openxmlformats.org/officeDocument/2006/relationships" r:id="Rd34aa764d4104591"/>
  </p:notesMasterIdLst>
  <p:sldIdLst>
    <p:sldId xmlns:r="http://schemas.openxmlformats.org/officeDocument/2006/relationships" id="256" r:id="R4763d636a2174d83"/>
    <p:sldId xmlns:r="http://schemas.openxmlformats.org/officeDocument/2006/relationships" id="257" r:id="Rbfe6b25d609c4014"/>
    <p:sldId xmlns:r="http://schemas.openxmlformats.org/officeDocument/2006/relationships" id="258" r:id="R80090a0b3bae4bc7"/>
    <p:sldId xmlns:r="http://schemas.openxmlformats.org/officeDocument/2006/relationships" id="259" r:id="Rbf10cb89ff2e4619"/>
    <p:sldId xmlns:r="http://schemas.openxmlformats.org/officeDocument/2006/relationships" id="260" r:id="R3d2a1d86177a48c1"/>
    <p:sldId xmlns:r="http://schemas.openxmlformats.org/officeDocument/2006/relationships" id="261" r:id="Rb7b8a7b58ae9408f"/>
    <p:sldId xmlns:r="http://schemas.openxmlformats.org/officeDocument/2006/relationships" id="262" r:id="Rc9601b16878546c5"/>
    <p:sldId xmlns:r="http://schemas.openxmlformats.org/officeDocument/2006/relationships" id="263" r:id="R222feefbbd9e4e7b"/>
    <p:sldId xmlns:r="http://schemas.openxmlformats.org/officeDocument/2006/relationships" id="264" r:id="R82ee8c03dd07408e"/>
    <p:sldId xmlns:r="http://schemas.openxmlformats.org/officeDocument/2006/relationships" id="265" r:id="R7168d27ca3ca47f9"/>
    <p:sldId xmlns:r="http://schemas.openxmlformats.org/officeDocument/2006/relationships" id="266" r:id="Ra3169f0958c748f5"/>
    <p:sldId xmlns:r="http://schemas.openxmlformats.org/officeDocument/2006/relationships" id="267" r:id="Rddd1a06b974546f8"/>
    <p:sldId xmlns:r="http://schemas.openxmlformats.org/officeDocument/2006/relationships" id="268" r:id="R03bb46a384bd47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2c00654ae14095" /><Relationship Type="http://schemas.openxmlformats.org/officeDocument/2006/relationships/slideMaster" Target="/ppt/slideMasters/slideMaster1.xml" Id="R12e549039e1c4ee6" /><Relationship Type="http://schemas.openxmlformats.org/officeDocument/2006/relationships/notesMaster" Target="/ppt/notesMasters/notesMaster1.xml" Id="Rd34aa764d4104591" /><Relationship Type="http://schemas.openxmlformats.org/officeDocument/2006/relationships/presProps" Target="/ppt/presProps.xml" Id="R1bfc5c0f9e5740ee" /><Relationship Type="http://schemas.openxmlformats.org/officeDocument/2006/relationships/tableStyles" Target="/ppt/tableStyles.xml" Id="Re5292c5de6b34157" /><Relationship Type="http://schemas.openxmlformats.org/officeDocument/2006/relationships/slide" Target="/ppt/slides/slide1.xml" Id="R4763d636a2174d83" /><Relationship Type="http://schemas.openxmlformats.org/officeDocument/2006/relationships/slide" Target="/ppt/slides/slide2.xml" Id="Rbfe6b25d609c4014" /><Relationship Type="http://schemas.openxmlformats.org/officeDocument/2006/relationships/slide" Target="/ppt/slides/slide3.xml" Id="R80090a0b3bae4bc7" /><Relationship Type="http://schemas.openxmlformats.org/officeDocument/2006/relationships/slide" Target="/ppt/slides/slide4.xml" Id="Rbf10cb89ff2e4619" /><Relationship Type="http://schemas.openxmlformats.org/officeDocument/2006/relationships/slide" Target="/ppt/slides/slide5.xml" Id="R3d2a1d86177a48c1" /><Relationship Type="http://schemas.openxmlformats.org/officeDocument/2006/relationships/slide" Target="/ppt/slides/slide6.xml" Id="Rb7b8a7b58ae9408f" /><Relationship Type="http://schemas.openxmlformats.org/officeDocument/2006/relationships/slide" Target="/ppt/slides/slide7.xml" Id="Rc9601b16878546c5" /><Relationship Type="http://schemas.openxmlformats.org/officeDocument/2006/relationships/slide" Target="/ppt/slides/slide8.xml" Id="R222feefbbd9e4e7b" /><Relationship Type="http://schemas.openxmlformats.org/officeDocument/2006/relationships/slide" Target="/ppt/slides/slide9.xml" Id="R82ee8c03dd07408e" /><Relationship Type="http://schemas.openxmlformats.org/officeDocument/2006/relationships/slide" Target="/ppt/slides/slide10.xml" Id="R7168d27ca3ca47f9" /><Relationship Type="http://schemas.openxmlformats.org/officeDocument/2006/relationships/slide" Target="/ppt/slides/slide11.xml" Id="Ra3169f0958c748f5" /><Relationship Type="http://schemas.openxmlformats.org/officeDocument/2006/relationships/slide" Target="/ppt/slides/slide12.xml" Id="Rddd1a06b974546f8" /><Relationship Type="http://schemas.openxmlformats.org/officeDocument/2006/relationships/slide" Target="/ppt/slides/slide13.xml" Id="R03bb46a384bd47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9fc45614c5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2de6a07b024d38" /><Relationship Type="http://schemas.openxmlformats.org/officeDocument/2006/relationships/notesMaster" Target="/ppt/notesMasters/notesMaster1.xml" Id="Rbe85e5d291bb4d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1da554b5b4337" /><Relationship Type="http://schemas.openxmlformats.org/officeDocument/2006/relationships/notesMaster" Target="/ppt/notesMasters/notesMaster1.xml" Id="Re6a0c46b2cfb41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43722c7c3e479a" /><Relationship Type="http://schemas.openxmlformats.org/officeDocument/2006/relationships/notesMaster" Target="/ppt/notesMasters/notesMaster1.xml" Id="R1fe312e0a985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3d5b6c176940e3" /><Relationship Type="http://schemas.openxmlformats.org/officeDocument/2006/relationships/notesMaster" Target="/ppt/notesMasters/notesMaster1.xml" Id="Rb3b9c2eb9c6c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2f2d5218474d25" /><Relationship Type="http://schemas.openxmlformats.org/officeDocument/2006/relationships/notesMaster" Target="/ppt/notesMasters/notesMaster1.xml" Id="R54e6ef0cee9f48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cf6b0418c442ae" /><Relationship Type="http://schemas.openxmlformats.org/officeDocument/2006/relationships/notesMaster" Target="/ppt/notesMasters/notesMaster1.xml" Id="R14001338e4f240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cbd076c8e54e5c" /><Relationship Type="http://schemas.openxmlformats.org/officeDocument/2006/relationships/notesMaster" Target="/ppt/notesMasters/notesMaster1.xml" Id="Rae9e7bf5a7b846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03ea71ecae4158" /><Relationship Type="http://schemas.openxmlformats.org/officeDocument/2006/relationships/notesMaster" Target="/ppt/notesMasters/notesMaster1.xml" Id="R96988318151c49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f62f21a9484138" /><Relationship Type="http://schemas.openxmlformats.org/officeDocument/2006/relationships/notesMaster" Target="/ppt/notesMasters/notesMaster1.xml" Id="Rbb125c55a7cb47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8f9bc0212e4f86" /><Relationship Type="http://schemas.openxmlformats.org/officeDocument/2006/relationships/notesMaster" Target="/ppt/notesMasters/notesMaster1.xml" Id="Rb04097e8a66241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4363a6eaeb4a08" /><Relationship Type="http://schemas.openxmlformats.org/officeDocument/2006/relationships/notesMaster" Target="/ppt/notesMasters/notesMaster1.xml" Id="Recd96d193eaa47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cf9611ad8a43dd" /><Relationship Type="http://schemas.openxmlformats.org/officeDocument/2006/relationships/notesMaster" Target="/ppt/notesMasters/notesMaster1.xml" Id="Rf1b3c43714bc42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d12df741524e2c" /><Relationship Type="http://schemas.openxmlformats.org/officeDocument/2006/relationships/notesMaster" Target="/ppt/notesMasters/notesMaster1.xml" Id="R107bfb9372d940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Informe del proyecto: GRUPO_1_TRABAJO_FINAL_DEEPLEARNING_RESULTADOS_FGSM.docx</a:t>
            </a:r>
          </a:p>
          <a:p xmlns:a="http://schemas.openxmlformats.org/drawingml/2006/main">
            <a:r>
              <a:t>- https://github.com/zalandoresearch/fashion-mnist</a:t>
            </a:r>
          </a:p>
          <a:p xmlns:a="http://schemas.openxmlformats.org/drawingml/2006/main">
            <a:r>
              <a:t>- https://arxiv.org/abs/1412.6572</a:t>
            </a:r>
          </a:p>
          <a:p xmlns:a="http://schemas.openxmlformats.org/drawingml/2006/main">
            <a:r>
              <a:t>- Visual generado: 01_portada_robustez_adversaria.png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 de ejecución proporcionados por el usuario: accuracy limpia 0.9256; epsilon 0.30, accuracy robusta 0.0657 y ASR 0.9306</a:t>
            </a:r>
          </a:p>
          <a:p xmlns:a="http://schemas.openxmlformats.org/drawingml/2006/main">
            <a:r>
              <a:t>- https://arxiv.org/abs/1412.6572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https://github.com/zalandoresearch/fashion-mnist</a:t>
            </a:r>
          </a:p>
          <a:p xmlns:a="http://schemas.openxmlformats.org/drawingml/2006/main">
            <a:r>
              <a:t>- Informe del proyecto, sección de caracterización del dataset</a:t>
            </a:r>
          </a:p>
          <a:p xmlns:a="http://schemas.openxmlformats.org/drawingml/2006/main">
            <a:r>
              <a:t>- Visual generado: 02_fashion_mnist_categorias.png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Código de la implementación proporcionado por el usuario</a:t>
            </a:r>
          </a:p>
          <a:p xmlns:a="http://schemas.openxmlformats.org/drawingml/2006/main">
            <a:r>
              <a:t>- Informe del proyecto, sección 2.3</a:t>
            </a:r>
          </a:p>
          <a:p xmlns:a="http://schemas.openxmlformats.org/drawingml/2006/main">
            <a:r>
              <a:t>- https://www.tensorflow.org/api_docs/python/tf/keras/losses/SparseCategoricalCrossentropy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Código de la implementación proporcionado por el usuario</a:t>
            </a:r>
          </a:p>
          <a:p xmlns:a="http://schemas.openxmlformats.org/drawingml/2006/main">
            <a:r>
              <a:t>- https://www.tensorflow.org/tutorials/generative/adversarial_fgsm</a:t>
            </a:r>
          </a:p>
          <a:p xmlns:a="http://schemas.openxmlformats.org/drawingml/2006/main">
            <a:r>
              <a:t>- https://www.tensorflow.org/api_docs/python/tf/GradientTape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https://arxiv.org/abs/1412.6572</a:t>
            </a:r>
          </a:p>
          <a:p xmlns:a="http://schemas.openxmlformats.org/drawingml/2006/main">
            <a:r>
              <a:t>- Informe del proyecto, explicación de FGSM</a:t>
            </a:r>
          </a:p>
          <a:p xmlns:a="http://schemas.openxmlformats.org/drawingml/2006/main">
            <a:r>
              <a:t>- Visual generado: 04_frontera_decision.png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Goodfellow, Shlens y Szegedy (2015), https://arxiv.org/abs/1412.6572</a:t>
            </a:r>
          </a:p>
          <a:p xmlns:a="http://schemas.openxmlformats.org/drawingml/2006/main">
            <a:r>
              <a:t>- https://www.tensorflow.org/tutorials/generative/adversarial_fgsm</a:t>
            </a:r>
          </a:p>
          <a:p xmlns:a="http://schemas.openxmlformats.org/drawingml/2006/main">
            <a:r>
              <a:t>- Visual generado: 03_fgsm_proceso.png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Código de la implementación proporcionado por el usuario</a:t>
            </a:r>
          </a:p>
          <a:p xmlns:a="http://schemas.openxmlformats.org/drawingml/2006/main">
            <a:r>
              <a:t>- https://www.tensorflow.org/tutorials/generative/adversarial_fgsm</a:t>
            </a:r>
          </a:p>
          <a:p xmlns:a="http://schemas.openxmlformats.org/drawingml/2006/main">
            <a:r>
              <a:t>- Resultados de ejecución proporcionados por el usuario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https://github.com/zalandoresearch/fashion-mnist#benchmark</a:t>
            </a:r>
          </a:p>
          <a:p xmlns:a="http://schemas.openxmlformats.org/drawingml/2006/main">
            <a:r>
              <a:t>- Informe del proyecto, tabla comparativa de benchmarks</a:t>
            </a:r>
          </a:p>
          <a:p xmlns:a="http://schemas.openxmlformats.org/drawingml/2006/main">
            <a:r>
              <a:t>- Resultado de ejecución proporcionado por el usuario: 92.56%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 de ejecución proporcionados por el usuario para epsilon 0.00–0.30</a:t>
            </a:r>
          </a:p>
          <a:p xmlns:a="http://schemas.openxmlformats.org/drawingml/2006/main">
            <a:r>
              <a:t>- Accuracy robusta: 92.56, 81.96, 59.57, 42.78, 23.03, 9.61 y 6.57 por ciento</a:t>
            </a:r>
          </a:p>
          <a:p xmlns:a="http://schemas.openxmlformats.org/drawingml/2006/main">
            <a:r>
              <a:t>- ASR: 0.00, 11.45, 35.64, 53.78, 75.12, 89.63 y 93.06 por ciento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 de ejecución proporcionados por el usuario</a:t>
            </a:r>
          </a:p>
          <a:p xmlns:a="http://schemas.openxmlformats.org/drawingml/2006/main">
            <a:r>
              <a:t>- Informe del proyecto, sección 3.3 Resultados obtenidos de la evaluación adversaria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 de ejecución proporcionados por el usuario</a:t>
            </a:r>
          </a:p>
          <a:p xmlns:a="http://schemas.openxmlformats.org/drawingml/2006/main">
            <a:r>
              <a:t>- Informe del proyecto, conclusiones</a:t>
            </a:r>
          </a:p>
          <a:p xmlns:a="http://schemas.openxmlformats.org/drawingml/2006/main">
            <a:r>
              <a:t>- https://arxiv.org/abs/1412.6572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Goodfellow, Shlens y Szegedy (2015), https://arxiv.org/abs/1412.6572</a:t>
            </a:r>
          </a:p>
          <a:p xmlns:a="http://schemas.openxmlformats.org/drawingml/2006/main">
            <a:r>
              <a:t>- Informe del proyecto, recomendaciones</a:t>
            </a:r>
          </a:p>
          <a:p xmlns:a="http://schemas.openxmlformats.org/drawingml/2006/main">
            <a:r>
              <a:t>- Visual generado: 05_entrenamiento_adversarial.png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4a9ab756d4f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e4e5b259ff4aa0" /><Relationship Type="http://schemas.openxmlformats.org/officeDocument/2006/relationships/slideLayout" Target="/ppt/slideLayouts/slideLayout1.xml" Id="R4f22ec261804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22ec261804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18684ca364e62" /><Relationship Type="http://schemas.openxmlformats.org/officeDocument/2006/relationships/image" Target="/ppt/media/image.png" Id="Rddf321c97ddd40dd" /><Relationship Type="http://schemas.openxmlformats.org/officeDocument/2006/relationships/notesSlide" Target="/ppt/notesSlides/notesSlide1.xml" Id="Rcf629c7386a043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d4c254c944b3f" /><Relationship Type="http://schemas.openxmlformats.org/officeDocument/2006/relationships/notesSlide" Target="/ppt/notesSlides/notesSlide2.xml" Id="R7138a88ec90242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5d6a5e56b423d" /><Relationship Type="http://schemas.openxmlformats.org/officeDocument/2006/relationships/image" Target="/ppt/media/image2.png" Id="Rd68492b984f34ddb" /><Relationship Type="http://schemas.openxmlformats.org/officeDocument/2006/relationships/notesSlide" Target="/ppt/notesSlides/notesSlide3.xml" Id="Ra8c30775ed2c48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30f5e8af04fb9" /><Relationship Type="http://schemas.openxmlformats.org/officeDocument/2006/relationships/notesSlide" Target="/ppt/notesSlides/notesSlide4.xml" Id="R06d322f9aaf943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d12a0f8b14b55" /><Relationship Type="http://schemas.openxmlformats.org/officeDocument/2006/relationships/notesSlide" Target="/ppt/notesSlides/notesSlide5.xml" Id="Rb0363e6e24c844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55fffabec445b" /><Relationship Type="http://schemas.openxmlformats.org/officeDocument/2006/relationships/image" Target="/ppt/media/image3.png" Id="Rdfbf3099b97a4580" /><Relationship Type="http://schemas.openxmlformats.org/officeDocument/2006/relationships/notesSlide" Target="/ppt/notesSlides/notesSlide6.xml" Id="R386d54d01db34b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a95dea0924629" /><Relationship Type="http://schemas.openxmlformats.org/officeDocument/2006/relationships/image" Target="/ppt/media/image4.png" Id="R80c44719997d40b0" /><Relationship Type="http://schemas.openxmlformats.org/officeDocument/2006/relationships/notesSlide" Target="/ppt/notesSlides/notesSlide7.xml" Id="R37a557aece32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677845a84979" /><Relationship Type="http://schemas.openxmlformats.org/officeDocument/2006/relationships/notesSlide" Target="/ppt/notesSlides/notesSlide8.xml" Id="R20747ea641eb45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090f389014def" /><Relationship Type="http://schemas.openxmlformats.org/officeDocument/2006/relationships/chart" Target="/ppt/slides/charts/chart1.xml" Id="R57724f2b0c6d47c3" /><Relationship Type="http://schemas.openxmlformats.org/officeDocument/2006/relationships/notesSlide" Target="/ppt/notesSlides/notesSlide9.xml" Id="R2ee37dac151d45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6af00b1764752" /><Relationship Type="http://schemas.openxmlformats.org/officeDocument/2006/relationships/chart" Target="/ppt/slides/charts/chart2.xml" Id="R4788ea241fe64676" /><Relationship Type="http://schemas.openxmlformats.org/officeDocument/2006/relationships/notesSlide" Target="/ppt/notesSlides/notesSlide10.xml" Id="R6f7531b71a3747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8de4a300d4dd2" /><Relationship Type="http://schemas.openxmlformats.org/officeDocument/2006/relationships/notesSlide" Target="/ppt/notesSlides/notesSlide11.xml" Id="R537df3d5b29142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4e4a84ec442bc" /><Relationship Type="http://schemas.openxmlformats.org/officeDocument/2006/relationships/notesSlide" Target="/ppt/notesSlides/notesSlide12.xml" Id="R942b56a1276f42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2d29f54de49c8" /><Relationship Type="http://schemas.openxmlformats.org/officeDocument/2006/relationships/image" Target="/ppt/media/image5.png" Id="R8479eb3633304cec" /><Relationship Type="http://schemas.openxmlformats.org/officeDocument/2006/relationships/notesSlide" Target="/ppt/notesSlides/notesSlide13.xml" Id="Rff0bb93a3eda4a9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A8AFB5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0C9A91"/>
              </a:solidFill>
            </c:spPr>
          </c:dPt>
          <c:cat>
            <c:strLit>
              <c:ptCount val="6"/>
              <c:pt idx="0">
                <c:v>Lineal</c:v>
              </c:pt>
              <c:pt idx="1">
                <c:v>2 Conv sin preproc.</c:v>
              </c:pt>
              <c:pt idx="2">
                <c:v>2 Conv tutorial TF</c:v>
              </c:pt>
              <c:pt idx="3">
                <c:v>LeNet/VGG simpl.</c:v>
              </c:pt>
              <c:pt idx="4">
                <c:v>2 Conv + BatchNorm</c:v>
              </c:pt>
              <c:pt idx="5">
                <c:v>CNN del informe</c:v>
              </c:pt>
            </c:strLit>
          </c:cat>
          <c:val>
            <c:numLit>
              <c:formatCode>General</c:formatCode>
              <c:ptCount val="6"/>
              <c:pt idx="0">
                <c:v>85.2</c:v>
              </c:pt>
              <c:pt idx="1">
                <c:v>87.6</c:v>
              </c:pt>
              <c:pt idx="2">
                <c:v>91.6</c:v>
              </c:pt>
              <c:pt idx="3">
                <c:v>91.7</c:v>
              </c:pt>
              <c:pt idx="4">
                <c:v>91.13</c:v>
              </c:pt>
              <c:pt idx="5">
                <c:v>92.56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F26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DC6B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DC6B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17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F263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1E8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5F1E8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Accuracy robusta</c:v>
          </c:tx>
          <c:spPr>
            <a:ln xmlns:a="http://schemas.openxmlformats.org/drawingml/2006/main" w="38100">
              <a:solidFill>
                <a:srgbClr val="0C9A91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0C9A91"/>
              </a:solidFill>
            </c:spPr>
          </c:marker>
          <c:cat>
            <c:numLit>
              <c:formatCode>General</c:formatCode>
              <c:ptCount val="7"/>
              <c:pt idx="0">
                <c:v>0.00</c:v>
              </c:pt>
              <c:pt idx="1">
                <c:v>0.01</c:v>
              </c:pt>
              <c:pt idx="2">
                <c:v>0.03</c:v>
              </c:pt>
              <c:pt idx="3">
                <c:v>0.05</c:v>
              </c:pt>
              <c:pt idx="4">
                <c:v>0.10</c:v>
              </c:pt>
              <c:pt idx="5">
                <c:v>0.20</c:v>
              </c:pt>
              <c:pt idx="6">
                <c:v>0.30</c:v>
              </c:pt>
            </c:numLit>
          </c:cat>
          <c:val>
            <c:numLit>
              <c:formatCode>0</c:formatCode>
              <c:ptCount val="7"/>
              <c:pt idx="0">
                <c:v>92.56</c:v>
              </c:pt>
              <c:pt idx="1">
                <c:v>81.96</c:v>
              </c:pt>
              <c:pt idx="2">
                <c:v>59.57</c:v>
              </c:pt>
              <c:pt idx="3">
                <c:v>42.78</c:v>
              </c:pt>
              <c:pt idx="4">
                <c:v>23.03</c:v>
              </c:pt>
              <c:pt idx="5">
                <c:v>9.61</c:v>
              </c:pt>
              <c:pt idx="6">
                <c:v>6.57</c:v>
              </c:pt>
            </c:numLit>
          </c:val>
          <c:smooth val="0"/>
        </c:ser>
        <c:ser>
          <c:idx val="1"/>
          <c:order val="1"/>
          <c:tx>
            <c:v>ASR</c:v>
          </c:tx>
          <c:spPr>
            <a:ln xmlns:a="http://schemas.openxmlformats.org/drawingml/2006/main" w="38100">
              <a:solidFill>
                <a:srgbClr val="E8755A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E8755A"/>
              </a:solidFill>
            </c:spPr>
          </c:marker>
          <c:cat>
            <c:numLit>
              <c:formatCode>General</c:formatCode>
              <c:ptCount val="7"/>
              <c:pt idx="0">
                <c:v>0.00</c:v>
              </c:pt>
              <c:pt idx="1">
                <c:v>0.01</c:v>
              </c:pt>
              <c:pt idx="2">
                <c:v>0.03</c:v>
              </c:pt>
              <c:pt idx="3">
                <c:v>0.05</c:v>
              </c:pt>
              <c:pt idx="4">
                <c:v>0.10</c:v>
              </c:pt>
              <c:pt idx="5">
                <c:v>0.20</c:v>
              </c:pt>
              <c:pt idx="6">
                <c:v>0.30</c:v>
              </c:pt>
            </c:numLit>
          </c:cat>
          <c:val>
            <c:numLit>
              <c:formatCode>0</c:formatCode>
              <c:ptCount val="7"/>
              <c:pt idx="0">
                <c:v>0</c:v>
              </c:pt>
              <c:pt idx="1">
                <c:v>11.45</c:v>
              </c:pt>
              <c:pt idx="2">
                <c:v>35.64</c:v>
              </c:pt>
              <c:pt idx="3">
                <c:v>53.78</c:v>
              </c:pt>
              <c:pt idx="4">
                <c:v>75.12</c:v>
              </c:pt>
              <c:pt idx="5">
                <c:v>89.63</c:v>
              </c:pt>
              <c:pt idx="6">
                <c:v>93.06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C4D2D8"/>
                    </a:solidFill>
                  </a:rPr>
                  <a:t>Epsilon (ε)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C4D2D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8707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4D2D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35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C4D2D8"/>
                    </a:solidFill>
                  </a:rPr>
                  <a:t>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C4D2D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8707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4D2D8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71824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FFFF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71824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321c97ddd40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752DC873-02D9-4852-9FE8-3F0D390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95A4080-4DDB-4874-9CF0-CAA2AACB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DE9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9E4"/>
                </a:solidFill>
                <a:latin typeface="Aptos"/>
                <a:ea typeface="Aptos"/>
                <a:cs typeface="Aptos"/>
              </a:rPr>
              <a:t>TRABAJO FINAL · DEEP LEARNING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BA93D97-7549-4F19-893A-941DAC01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Robustez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adversaria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F722169-9EF5-467D-B6E0-7112FFFA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6E0E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6E0E5"/>
                </a:solidFill>
                <a:latin typeface="Aptos"/>
                <a:ea typeface="Aptos"/>
                <a:cs typeface="Aptos"/>
              </a:rPr>
              <a:t>Atacando los gradientes con FGSM sobre Fashion-MNIST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6DF6064A-F572-4AE6-8714-D5FCCFE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755A"/>
            </a:solidFill>
            <a:prstDash val="solid"/>
          </a:ln>
        </p:spPr>
      </p:sp>
      <p:sp>
        <p:nvSpPr>
          <p:cNvPr id="7" name="program">
            <a:extLst xmlns:a="http://schemas.openxmlformats.org/drawingml/2006/main">
              <a:ext uri="{FF2B5EF4-FFF2-40B4-BE49-F238E27FC236}">
                <a16:creationId xmlns:a16="http://schemas.microsoft.com/office/drawing/2014/main" id="{A9673F20-07A1-4126-9C0F-03D341C1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Diploma de Especialización en Data Analytics 2026-1</a:t>
            </a:r>
          </a:p>
        </p:txBody>
      </p:sp>
      <p:sp>
        <p:nvSpPr>
          <p:cNvPr id="8" name="group">
            <a:extLst xmlns:a="http://schemas.openxmlformats.org/drawingml/2006/main">
              <a:ext uri="{FF2B5EF4-FFF2-40B4-BE49-F238E27FC236}">
                <a16:creationId xmlns:a16="http://schemas.microsoft.com/office/drawing/2014/main" id="{CF507235-91FD-48D4-B016-5706B00A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DE9E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DE9E4"/>
                </a:solidFill>
                <a:latin typeface="Aptos"/>
                <a:ea typeface="Aptos"/>
                <a:cs typeface="Aptos"/>
              </a:rPr>
              <a:t>GRUPO 1</a:t>
            </a:r>
          </a:p>
        </p:txBody>
      </p:sp>
      <p:sp>
        <p:nvSpPr>
          <p:cNvPr id="9" name="members">
            <a:extLst xmlns:a="http://schemas.openxmlformats.org/drawingml/2006/main">
              <a:ext uri="{FF2B5EF4-FFF2-40B4-BE49-F238E27FC236}">
                <a16:creationId xmlns:a16="http://schemas.microsoft.com/office/drawing/2014/main" id="{A9835ED0-53DB-430E-A9F8-95D22289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C6D2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8"/>
                </a:solidFill>
                <a:latin typeface="Aptos"/>
                <a:ea typeface="Aptos"/>
                <a:cs typeface="Aptos"/>
              </a:rPr>
              <a:t>Alexander Salazar Martínez · Victoria Cerquera Gorritti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C6D2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8"/>
                </a:solidFill>
                <a:latin typeface="Aptos"/>
                <a:ea typeface="Aptos"/>
                <a:cs typeface="Aptos"/>
              </a:rPr>
              <a:t>José Santacruz Mujica · Marco Lopez Ayme · Valentino Oriundo Flores</a:t>
            </a:r>
          </a:p>
        </p:txBody>
      </p:sp>
      <p:sp>
        <p:nvSpPr>
          <p:cNvPr id="10" name="location">
            <a:extLst xmlns:a="http://schemas.openxmlformats.org/drawingml/2006/main">
              <a:ext uri="{FF2B5EF4-FFF2-40B4-BE49-F238E27FC236}">
                <a16:creationId xmlns:a16="http://schemas.microsoft.com/office/drawing/2014/main" id="{65CC314C-55B7-4659-931B-D3E9ED85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8B7B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7BE"/>
                </a:solidFill>
                <a:latin typeface="Aptos"/>
                <a:ea typeface="Aptos"/>
                <a:cs typeface="Aptos"/>
              </a:rPr>
              <a:t>Lima, Perú · 2026</a:t>
            </a:r>
          </a:p>
        </p:txBody>
      </p:sp>
    </p:spTree>
    <p:extLst>
      <p:ext uri="{BB962C8B-B14F-4D97-AF65-F5344CB8AC3E}">
        <p14:creationId xmlns:p14="http://schemas.microsoft.com/office/powerpoint/2010/main" val="2080702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8079993F-E211-4C1C-B620-85958353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PROBLEMA DE INVESTIGACIÓN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C24C8E-ECDA-4ED0-8DC4-81728705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Una CNN precisa puede seguir siendo frágil</a:t>
            </a:r>
          </a:p>
        </p:txBody>
      </p:sp>
      <p:sp>
        <p:nvSpPr>
          <p:cNvPr id="3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3348F6E-48FD-4948-AD23-05138F74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La evaluación limpia responde si el modelo clasifica. FGSM responde si esa decisión se mantiene ante una perturbación dirigida.</a:t>
            </a:r>
          </a:p>
        </p:txBody>
      </p:sp>
      <p:sp>
        <p:nvSpPr>
          <p:cNvPr id="4" name="clean-value">
            <a:extLst xmlns:a="http://schemas.openxmlformats.org/drawingml/2006/main">
              <a:ext uri="{FF2B5EF4-FFF2-40B4-BE49-F238E27FC236}">
                <a16:creationId xmlns:a16="http://schemas.microsoft.com/office/drawing/2014/main" id="{6C46650B-44E8-407C-8884-95E21195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rPr>
              <a:t>92.56%</a:t>
            </a:r>
          </a:p>
        </p:txBody>
      </p:sp>
      <p:sp>
        <p:nvSpPr>
          <p:cNvPr id="5" name="clean-label">
            <a:extLst xmlns:a="http://schemas.openxmlformats.org/drawingml/2006/main">
              <a:ext uri="{FF2B5EF4-FFF2-40B4-BE49-F238E27FC236}">
                <a16:creationId xmlns:a16="http://schemas.microsoft.com/office/drawing/2014/main" id="{33862CE2-D120-4AD7-A5A6-914C9EE9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accuracy limpia</a:t>
            </a:r>
          </a:p>
        </p:txBody>
      </p:sp>
      <p:sp>
        <p:nvSpPr>
          <p:cNvPr id="6" name="decline-arrow">
            <a:extLst xmlns:a="http://schemas.openxmlformats.org/drawingml/2006/main">
              <a:ext uri="{FF2B5EF4-FFF2-40B4-BE49-F238E27FC236}">
                <a16:creationId xmlns:a16="http://schemas.microsoft.com/office/drawing/2014/main" id="{B085B2E2-6046-4BC4-A2FE-789C2A94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05125"/>
            <a:ext cx="1619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psilon-label">
            <a:extLst xmlns:a="http://schemas.openxmlformats.org/drawingml/2006/main">
              <a:ext uri="{FF2B5EF4-FFF2-40B4-BE49-F238E27FC236}">
                <a16:creationId xmlns:a16="http://schemas.microsoft.com/office/drawing/2014/main" id="{678D59D7-809D-4059-9676-F0D1D682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E87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755A"/>
                </a:solidFill>
                <a:latin typeface="Aptos"/>
                <a:ea typeface="Aptos"/>
                <a:cs typeface="Aptos"/>
              </a:rPr>
              <a:t>ε = 0.30</a:t>
            </a:r>
          </a:p>
        </p:txBody>
      </p:sp>
      <p:sp>
        <p:nvSpPr>
          <p:cNvPr id="8" name="robust-value">
            <a:extLst xmlns:a="http://schemas.openxmlformats.org/drawingml/2006/main">
              <a:ext uri="{FF2B5EF4-FFF2-40B4-BE49-F238E27FC236}">
                <a16:creationId xmlns:a16="http://schemas.microsoft.com/office/drawing/2014/main" id="{91870AB4-7571-4A50-B487-253EB1A7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rPr>
              <a:t>6.57%</a:t>
            </a:r>
          </a:p>
        </p:txBody>
      </p:sp>
      <p:sp>
        <p:nvSpPr>
          <p:cNvPr id="9" name="robust-label">
            <a:extLst xmlns:a="http://schemas.openxmlformats.org/drawingml/2006/main">
              <a:ext uri="{FF2B5EF4-FFF2-40B4-BE49-F238E27FC236}">
                <a16:creationId xmlns:a16="http://schemas.microsoft.com/office/drawing/2014/main" id="{58759396-9CE0-4301-A31C-B80EC668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81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accuracy robusta</a:t>
            </a:r>
          </a:p>
        </p:txBody>
      </p:sp>
      <p:sp>
        <p:nvSpPr>
          <p:cNvPr id="10" name="asr-callout">
            <a:extLst xmlns:a="http://schemas.openxmlformats.org/drawingml/2006/main">
              <a:ext uri="{FF2B5EF4-FFF2-40B4-BE49-F238E27FC236}">
                <a16:creationId xmlns:a16="http://schemas.microsoft.com/office/drawing/2014/main" id="{C8747227-7000-4096-9217-978CB27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93.06% de los aciertos iniciales son revertidos por el ataque.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6A383F41-E733-45F2-A0F3-9CFA15B1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2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9ABC920A-3BBA-4E36-9A44-DBE89D8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Pregunta central</a:t>
            </a:r>
          </a:p>
        </p:txBody>
      </p:sp>
      <p:sp>
        <p:nvSpPr>
          <p:cNvPr id="13" name="question">
            <a:extLst xmlns:a="http://schemas.openxmlformats.org/drawingml/2006/main">
              <a:ext uri="{FF2B5EF4-FFF2-40B4-BE49-F238E27FC236}">
                <a16:creationId xmlns:a16="http://schemas.microsoft.com/office/drawing/2014/main" id="{59637ADD-75A7-48A3-A608-4294C91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¿Cómo cambia la robustez cuando aumenta la intensidad de la perturbación?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7A7EED7-EF42-45A7-8E03-CD02F0DE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83F701B-D1E0-4CD4-B5A9-60EF112C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31106E-86D6-4937-BADF-865F8899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8915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CC7605A-83CD-4E7C-8E29-CC501DB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71F036-8F4C-4C38-A7D1-36C70F34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Fashion-MNIST conserva la escala de MNIST, pero eleva la dificultad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492b984f34ddb"/>
          <a:srcRect xmlns:a="http://schemas.openxmlformats.org/drawingml/2006/main" l="6547" t="0" r="65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1600200"/>
            <a:ext cx="63246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stat-0">
            <a:extLst xmlns:a="http://schemas.openxmlformats.org/drawingml/2006/main">
              <a:ext uri="{FF2B5EF4-FFF2-40B4-BE49-F238E27FC236}">
                <a16:creationId xmlns:a16="http://schemas.microsoft.com/office/drawing/2014/main" id="{86368DA8-5A81-4A4F-BC00-D0CE6B7D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rPr>
              <a:t>70 000</a:t>
            </a:r>
          </a:p>
        </p:txBody>
      </p:sp>
      <p:sp>
        <p:nvSpPr>
          <p:cNvPr id="5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DC67AF7D-638C-4197-B887-D3306A5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imágenes totales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DD3F331-58C7-4959-B04C-63499A82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B95599F-C064-42C0-B29F-57B1E7B9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28 × 28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2D287CDE-8B9C-4BD9-9954-D68E6A8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píxeles en escala de grises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372E61B-F91D-4E31-8AC2-817CB252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0" name="stat-2">
            <a:extLst xmlns:a="http://schemas.openxmlformats.org/drawingml/2006/main">
              <a:ext uri="{FF2B5EF4-FFF2-40B4-BE49-F238E27FC236}">
                <a16:creationId xmlns:a16="http://schemas.microsoft.com/office/drawing/2014/main" id="{C017682B-F597-4B3E-AF88-DA6012F2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1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8475F98F-6B62-43FE-BA4B-D19EA0F9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clases balanceadas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0161443-9BCA-4D39-9388-6E70595B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3" name="stat-3">
            <a:extLst xmlns:a="http://schemas.openxmlformats.org/drawingml/2006/main">
              <a:ext uri="{FF2B5EF4-FFF2-40B4-BE49-F238E27FC236}">
                <a16:creationId xmlns:a16="http://schemas.microsoft.com/office/drawing/2014/main" id="{560EB71D-4C09-475A-8885-6190F993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60k / 10k</a:t>
            </a:r>
          </a:p>
        </p:txBody>
      </p:sp>
      <p:sp>
        <p:nvSpPr>
          <p:cNvPr id="14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7FA8F1AB-8054-449B-829A-79F079C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entrenamiento / prueba</a:t>
            </a:r>
          </a:p>
        </p:txBody>
      </p:sp>
      <p:sp>
        <p:nvSpPr>
          <p:cNvPr id="15" name="dataset-insight">
            <a:extLst xmlns:a="http://schemas.openxmlformats.org/drawingml/2006/main">
              <a:ext uri="{FF2B5EF4-FFF2-40B4-BE49-F238E27FC236}">
                <a16:creationId xmlns:a16="http://schemas.microsoft.com/office/drawing/2014/main" id="{110FA453-A4A3-4D72-8109-3821BF9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66717B"/>
                </a:solidFill>
                <a:latin typeface="Aptos"/>
                <a:ea typeface="Aptos"/>
                <a:cs typeface="Aptos"/>
              </a:rPr>
              <a:t>La similitud entre prendas superiores —shirt, pullover y coat— vuelve más exigente la frontera de decisión.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266AD13-FCA4-4077-81BD-7AEBCFF7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A75BE71A-4FBC-4165-8E25-4F7EAA8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728A10-61E3-4442-BF66-FAD5F001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4364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eyebrow">
            <a:extLst xmlns:a="http://schemas.openxmlformats.org/drawingml/2006/main">
              <a:ext uri="{FF2B5EF4-FFF2-40B4-BE49-F238E27FC236}">
                <a16:creationId xmlns:a16="http://schemas.microsoft.com/office/drawing/2014/main" id="{847798DE-8CAC-4AFD-BC8A-EA526B34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DE9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9E4"/>
                </a:solidFill>
                <a:latin typeface="Aptos"/>
                <a:ea typeface="Aptos"/>
                <a:cs typeface="Aptos"/>
              </a:rPr>
              <a:t>MODELO BASE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4D72FB-0F7E-4321-9B93-B9C78A51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Una CNN compacta alcanza 92.56% en imágenes limpias</a:t>
            </a:r>
          </a:p>
        </p:txBody>
      </p:sp>
      <p:sp>
        <p:nvSpPr>
          <p:cNvPr id="3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2053CB88-76EA-48C6-9ADA-E8A17011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E4E102FF-F47C-41A2-AD72-70C7C207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983A547A-8CC9-424A-B929-ED9A1AC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A0B3F6AD-1DF2-45CC-B311-B8EE1106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arrow-4">
            <a:extLst xmlns:a="http://schemas.openxmlformats.org/drawingml/2006/main">
              <a:ext uri="{FF2B5EF4-FFF2-40B4-BE49-F238E27FC236}">
                <a16:creationId xmlns:a16="http://schemas.microsoft.com/office/drawing/2014/main" id="{DBE6D84F-45CD-46A5-8E94-EE437FBC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arrow-5">
            <a:extLst xmlns:a="http://schemas.openxmlformats.org/drawingml/2006/main">
              <a:ext uri="{FF2B5EF4-FFF2-40B4-BE49-F238E27FC236}">
                <a16:creationId xmlns:a16="http://schemas.microsoft.com/office/drawing/2014/main" id="{9BF2B92C-D8F1-4052-9E37-64A4F33C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arrow-6">
            <a:extLst xmlns:a="http://schemas.openxmlformats.org/drawingml/2006/main">
              <a:ext uri="{FF2B5EF4-FFF2-40B4-BE49-F238E27FC236}">
                <a16:creationId xmlns:a16="http://schemas.microsoft.com/office/drawing/2014/main" id="{A95AF84A-33D3-4EF8-970B-D267B3D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arrow-7">
            <a:extLst xmlns:a="http://schemas.openxmlformats.org/drawingml/2006/main">
              <a:ext uri="{FF2B5EF4-FFF2-40B4-BE49-F238E27FC236}">
                <a16:creationId xmlns:a16="http://schemas.microsoft.com/office/drawing/2014/main" id="{FBD5DEE6-45F1-46C3-9361-755E10AD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arrow-8">
            <a:extLst xmlns:a="http://schemas.openxmlformats.org/drawingml/2006/main">
              <a:ext uri="{FF2B5EF4-FFF2-40B4-BE49-F238E27FC236}">
                <a16:creationId xmlns:a16="http://schemas.microsoft.com/office/drawing/2014/main" id="{66C4595D-2DB6-42A7-9A5E-851C4B93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86075"/>
            <a:ext cx="857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node-0">
            <a:extLst xmlns:a="http://schemas.openxmlformats.org/drawingml/2006/main">
              <a:ext uri="{FF2B5EF4-FFF2-40B4-BE49-F238E27FC236}">
                <a16:creationId xmlns:a16="http://schemas.microsoft.com/office/drawing/2014/main" id="{9DB5CAE2-5F04-4FC7-AE05-39EA2482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head-0">
            <a:extLst xmlns:a="http://schemas.openxmlformats.org/drawingml/2006/main">
              <a:ext uri="{FF2B5EF4-FFF2-40B4-BE49-F238E27FC236}">
                <a16:creationId xmlns:a16="http://schemas.microsoft.com/office/drawing/2014/main" id="{45B5E87E-E7EE-4979-8A62-17099E8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Entrada</a:t>
            </a:r>
          </a:p>
        </p:txBody>
      </p:sp>
      <p:sp>
        <p:nvSpPr>
          <p:cNvPr id="14" name="arch-body-0">
            <a:extLst xmlns:a="http://schemas.openxmlformats.org/drawingml/2006/main">
              <a:ext uri="{FF2B5EF4-FFF2-40B4-BE49-F238E27FC236}">
                <a16:creationId xmlns:a16="http://schemas.microsoft.com/office/drawing/2014/main" id="{B3C72D0E-75A0-485A-A939-4C83D7B0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28×28×1</a:t>
            </a:r>
          </a:p>
        </p:txBody>
      </p:sp>
      <p:sp>
        <p:nvSpPr>
          <p:cNvPr id="15" name="arch-node-1">
            <a:extLst xmlns:a="http://schemas.openxmlformats.org/drawingml/2006/main">
              <a:ext uri="{FF2B5EF4-FFF2-40B4-BE49-F238E27FC236}">
                <a16:creationId xmlns:a16="http://schemas.microsoft.com/office/drawing/2014/main" id="{5B1F75E4-7DAD-46B1-BD5F-BAB470D8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-head-1">
            <a:extLst xmlns:a="http://schemas.openxmlformats.org/drawingml/2006/main">
              <a:ext uri="{FF2B5EF4-FFF2-40B4-BE49-F238E27FC236}">
                <a16:creationId xmlns:a16="http://schemas.microsoft.com/office/drawing/2014/main" id="{15658046-C464-41C9-B020-39A1813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 32</a:t>
            </a:r>
          </a:p>
        </p:txBody>
      </p:sp>
      <p:sp>
        <p:nvSpPr>
          <p:cNvPr id="17" name="arch-body-1">
            <a:extLst xmlns:a="http://schemas.openxmlformats.org/drawingml/2006/main">
              <a:ext uri="{FF2B5EF4-FFF2-40B4-BE49-F238E27FC236}">
                <a16:creationId xmlns:a16="http://schemas.microsoft.com/office/drawing/2014/main" id="{25C4E969-7A28-46FA-B79B-65132A82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3×3 + ReLU</a:t>
            </a:r>
          </a:p>
        </p:txBody>
      </p:sp>
      <p:sp>
        <p:nvSpPr>
          <p:cNvPr id="18" name="arch-node-2">
            <a:extLst xmlns:a="http://schemas.openxmlformats.org/drawingml/2006/main">
              <a:ext uri="{FF2B5EF4-FFF2-40B4-BE49-F238E27FC236}">
                <a16:creationId xmlns:a16="http://schemas.microsoft.com/office/drawing/2014/main" id="{42625D8D-EA66-410F-876E-949B2BA1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-head-2">
            <a:extLst xmlns:a="http://schemas.openxmlformats.org/drawingml/2006/main">
              <a:ext uri="{FF2B5EF4-FFF2-40B4-BE49-F238E27FC236}">
                <a16:creationId xmlns:a16="http://schemas.microsoft.com/office/drawing/2014/main" id="{8745FF28-060A-475F-86F2-458533B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Pooling</a:t>
            </a:r>
          </a:p>
        </p:txBody>
      </p:sp>
      <p:sp>
        <p:nvSpPr>
          <p:cNvPr id="20" name="arch-body-2">
            <a:extLst xmlns:a="http://schemas.openxmlformats.org/drawingml/2006/main">
              <a:ext uri="{FF2B5EF4-FFF2-40B4-BE49-F238E27FC236}">
                <a16:creationId xmlns:a16="http://schemas.microsoft.com/office/drawing/2014/main" id="{F5BE5005-8692-49DB-87CB-D8426C4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14×14</a:t>
            </a:r>
          </a:p>
        </p:txBody>
      </p:sp>
      <p:sp>
        <p:nvSpPr>
          <p:cNvPr id="21" name="arch-node-3">
            <a:extLst xmlns:a="http://schemas.openxmlformats.org/drawingml/2006/main">
              <a:ext uri="{FF2B5EF4-FFF2-40B4-BE49-F238E27FC236}">
                <a16:creationId xmlns:a16="http://schemas.microsoft.com/office/drawing/2014/main" id="{089AA9C3-8097-4965-A83A-23A6310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-head-3">
            <a:extLst xmlns:a="http://schemas.openxmlformats.org/drawingml/2006/main">
              <a:ext uri="{FF2B5EF4-FFF2-40B4-BE49-F238E27FC236}">
                <a16:creationId xmlns:a16="http://schemas.microsoft.com/office/drawing/2014/main" id="{39BCBC2D-17A4-492D-AEFD-5CE2AFB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 64</a:t>
            </a:r>
          </a:p>
        </p:txBody>
      </p:sp>
      <p:sp>
        <p:nvSpPr>
          <p:cNvPr id="23" name="arch-body-3">
            <a:extLst xmlns:a="http://schemas.openxmlformats.org/drawingml/2006/main">
              <a:ext uri="{FF2B5EF4-FFF2-40B4-BE49-F238E27FC236}">
                <a16:creationId xmlns:a16="http://schemas.microsoft.com/office/drawing/2014/main" id="{5D4F49B0-7334-4EB7-9FD2-084975E8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3×3 + ReLU</a:t>
            </a:r>
          </a:p>
        </p:txBody>
      </p:sp>
      <p:sp>
        <p:nvSpPr>
          <p:cNvPr id="24" name="arch-node-4">
            <a:extLst xmlns:a="http://schemas.openxmlformats.org/drawingml/2006/main">
              <a:ext uri="{FF2B5EF4-FFF2-40B4-BE49-F238E27FC236}">
                <a16:creationId xmlns:a16="http://schemas.microsoft.com/office/drawing/2014/main" id="{ABC26B14-02B0-4784-B1C7-B1868955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-head-4">
            <a:extLst xmlns:a="http://schemas.openxmlformats.org/drawingml/2006/main">
              <a:ext uri="{FF2B5EF4-FFF2-40B4-BE49-F238E27FC236}">
                <a16:creationId xmlns:a16="http://schemas.microsoft.com/office/drawing/2014/main" id="{10C2F3A0-EBC1-493F-8363-6AD42178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Pooling</a:t>
            </a:r>
          </a:p>
        </p:txBody>
      </p:sp>
      <p:sp>
        <p:nvSpPr>
          <p:cNvPr id="26" name="arch-body-4">
            <a:extLst xmlns:a="http://schemas.openxmlformats.org/drawingml/2006/main">
              <a:ext uri="{FF2B5EF4-FFF2-40B4-BE49-F238E27FC236}">
                <a16:creationId xmlns:a16="http://schemas.microsoft.com/office/drawing/2014/main" id="{C24281B5-1CC4-41B9-8C76-DBB70565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7×7</a:t>
            </a:r>
          </a:p>
        </p:txBody>
      </p:sp>
      <p:sp>
        <p:nvSpPr>
          <p:cNvPr id="27" name="arch-node-5">
            <a:extLst xmlns:a="http://schemas.openxmlformats.org/drawingml/2006/main">
              <a:ext uri="{FF2B5EF4-FFF2-40B4-BE49-F238E27FC236}">
                <a16:creationId xmlns:a16="http://schemas.microsoft.com/office/drawing/2014/main" id="{5B863452-434F-420B-8034-BBF06029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rch-head-5">
            <a:extLst xmlns:a="http://schemas.openxmlformats.org/drawingml/2006/main">
              <a:ext uri="{FF2B5EF4-FFF2-40B4-BE49-F238E27FC236}">
                <a16:creationId xmlns:a16="http://schemas.microsoft.com/office/drawing/2014/main" id="{A5C30D76-466A-4219-A7B2-B6DC3139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Dropout</a:t>
            </a:r>
          </a:p>
        </p:txBody>
      </p:sp>
      <p:sp>
        <p:nvSpPr>
          <p:cNvPr id="29" name="arch-body-5">
            <a:extLst xmlns:a="http://schemas.openxmlformats.org/drawingml/2006/main">
              <a:ext uri="{FF2B5EF4-FFF2-40B4-BE49-F238E27FC236}">
                <a16:creationId xmlns:a16="http://schemas.microsoft.com/office/drawing/2014/main" id="{AB10D82D-B7B9-478E-8A4C-8F72F8B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30" name="arch-node-6">
            <a:extLst xmlns:a="http://schemas.openxmlformats.org/drawingml/2006/main">
              <a:ext uri="{FF2B5EF4-FFF2-40B4-BE49-F238E27FC236}">
                <a16:creationId xmlns:a16="http://schemas.microsoft.com/office/drawing/2014/main" id="{202C4377-F27F-44C1-B9C1-C46A8605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rch-head-6">
            <a:extLst xmlns:a="http://schemas.openxmlformats.org/drawingml/2006/main">
              <a:ext uri="{FF2B5EF4-FFF2-40B4-BE49-F238E27FC236}">
                <a16:creationId xmlns:a16="http://schemas.microsoft.com/office/drawing/2014/main" id="{2E51F253-8097-4281-99C0-1903A2D9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Flatten</a:t>
            </a:r>
          </a:p>
        </p:txBody>
      </p:sp>
      <p:sp>
        <p:nvSpPr>
          <p:cNvPr id="32" name="arch-body-6">
            <a:extLst xmlns:a="http://schemas.openxmlformats.org/drawingml/2006/main">
              <a:ext uri="{FF2B5EF4-FFF2-40B4-BE49-F238E27FC236}">
                <a16:creationId xmlns:a16="http://schemas.microsoft.com/office/drawing/2014/main" id="{F6C70D71-3EA4-4C2D-B341-86A9AD87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3136</a:t>
            </a:r>
          </a:p>
        </p:txBody>
      </p:sp>
      <p:sp>
        <p:nvSpPr>
          <p:cNvPr id="33" name="arch-node-7">
            <a:extLst xmlns:a="http://schemas.openxmlformats.org/drawingml/2006/main">
              <a:ext uri="{FF2B5EF4-FFF2-40B4-BE49-F238E27FC236}">
                <a16:creationId xmlns:a16="http://schemas.microsoft.com/office/drawing/2014/main" id="{5F1892F5-BFCF-4C3F-9441-5A1E0DB7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rch-head-7">
            <a:extLst xmlns:a="http://schemas.openxmlformats.org/drawingml/2006/main">
              <a:ext uri="{FF2B5EF4-FFF2-40B4-BE49-F238E27FC236}">
                <a16:creationId xmlns:a16="http://schemas.microsoft.com/office/drawing/2014/main" id="{2C04CD34-329A-42AE-A3A0-9659E238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Dense</a:t>
            </a:r>
          </a:p>
        </p:txBody>
      </p:sp>
      <p:sp>
        <p:nvSpPr>
          <p:cNvPr id="35" name="arch-body-7">
            <a:extLst xmlns:a="http://schemas.openxmlformats.org/drawingml/2006/main">
              <a:ext uri="{FF2B5EF4-FFF2-40B4-BE49-F238E27FC236}">
                <a16:creationId xmlns:a16="http://schemas.microsoft.com/office/drawing/2014/main" id="{A819ECC9-33EF-4118-96BD-16CF9E94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128 + ReLU</a:t>
            </a:r>
          </a:p>
        </p:txBody>
      </p:sp>
      <p:sp>
        <p:nvSpPr>
          <p:cNvPr id="36" name="arch-node-8">
            <a:extLst xmlns:a="http://schemas.openxmlformats.org/drawingml/2006/main">
              <a:ext uri="{FF2B5EF4-FFF2-40B4-BE49-F238E27FC236}">
                <a16:creationId xmlns:a16="http://schemas.microsoft.com/office/drawing/2014/main" id="{6305BFE5-DF50-4EC3-BFB6-D3DA29F8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rch-head-8">
            <a:extLst xmlns:a="http://schemas.openxmlformats.org/drawingml/2006/main">
              <a:ext uri="{FF2B5EF4-FFF2-40B4-BE49-F238E27FC236}">
                <a16:creationId xmlns:a16="http://schemas.microsoft.com/office/drawing/2014/main" id="{39033398-77A5-4076-9580-48485462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Dropout</a:t>
            </a:r>
          </a:p>
        </p:txBody>
      </p:sp>
      <p:sp>
        <p:nvSpPr>
          <p:cNvPr id="38" name="arch-body-8">
            <a:extLst xmlns:a="http://schemas.openxmlformats.org/drawingml/2006/main">
              <a:ext uri="{FF2B5EF4-FFF2-40B4-BE49-F238E27FC236}">
                <a16:creationId xmlns:a16="http://schemas.microsoft.com/office/drawing/2014/main" id="{B3CB2BAD-98B9-4164-A803-DAF8B434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39" name="arch-node-9">
            <a:extLst xmlns:a="http://schemas.openxmlformats.org/drawingml/2006/main">
              <a:ext uri="{FF2B5EF4-FFF2-40B4-BE49-F238E27FC236}">
                <a16:creationId xmlns:a16="http://schemas.microsoft.com/office/drawing/2014/main" id="{0549D35D-382A-473B-B0BC-EA362AB2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1009650" cy="10287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E87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rch-head-9">
            <a:extLst xmlns:a="http://schemas.openxmlformats.org/drawingml/2006/main">
              <a:ext uri="{FF2B5EF4-FFF2-40B4-BE49-F238E27FC236}">
                <a16:creationId xmlns:a16="http://schemas.microsoft.com/office/drawing/2014/main" id="{69F0F230-9D60-4080-ACA8-9925FBF9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76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Logits</a:t>
            </a:r>
          </a:p>
        </p:txBody>
      </p:sp>
      <p:sp>
        <p:nvSpPr>
          <p:cNvPr id="41" name="arch-body-9">
            <a:extLst xmlns:a="http://schemas.openxmlformats.org/drawingml/2006/main">
              <a:ext uri="{FF2B5EF4-FFF2-40B4-BE49-F238E27FC236}">
                <a16:creationId xmlns:a16="http://schemas.microsoft.com/office/drawing/2014/main" id="{98A35FD1-492C-4671-BCFB-F0C8037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289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D2DE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2DEE3"/>
                </a:solidFill>
                <a:latin typeface="Aptos"/>
                <a:ea typeface="Aptos"/>
                <a:cs typeface="Aptos"/>
              </a:rPr>
              <a:t>10 clases</a:t>
            </a:r>
          </a:p>
        </p:txBody>
      </p:sp>
      <p:sp>
        <p:nvSpPr>
          <p:cNvPr id="42" name="arch-insight">
            <a:extLst xmlns:a="http://schemas.openxmlformats.org/drawingml/2006/main">
              <a:ext uri="{FF2B5EF4-FFF2-40B4-BE49-F238E27FC236}">
                <a16:creationId xmlns:a16="http://schemas.microsoft.com/office/drawing/2014/main" id="{3D876E88-CEBB-466B-9D0D-4CBA43EA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6D4D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4DA"/>
                </a:solidFill>
                <a:latin typeface="Aptos"/>
                <a:ea typeface="Aptos"/>
                <a:cs typeface="Aptos"/>
              </a:rPr>
              <a:t>La salida final entrega logits. La función de pérdida aplica la transformación necesaria con from_logits=True.</a:t>
            </a:r>
          </a:p>
        </p:txBody>
      </p:sp>
      <p:sp>
        <p:nvSpPr>
          <p:cNvPr id="43" name="arch-accuracy">
            <a:extLst xmlns:a="http://schemas.openxmlformats.org/drawingml/2006/main">
              <a:ext uri="{FF2B5EF4-FFF2-40B4-BE49-F238E27FC236}">
                <a16:creationId xmlns:a16="http://schemas.microsoft.com/office/drawing/2014/main" id="{90D87756-9DEA-4716-B674-50AB61E8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CDE9E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CDE9E4"/>
                </a:solidFill>
                <a:latin typeface="Aptos Display"/>
                <a:ea typeface="Aptos Display"/>
                <a:cs typeface="Aptos Display"/>
              </a:rPr>
              <a:t>92.56%</a:t>
            </a:r>
          </a:p>
        </p:txBody>
      </p:sp>
      <p:sp>
        <p:nvSpPr>
          <p:cNvPr id="44" name="arch-accuracy-label">
            <a:extLst xmlns:a="http://schemas.openxmlformats.org/drawingml/2006/main">
              <a:ext uri="{FF2B5EF4-FFF2-40B4-BE49-F238E27FC236}">
                <a16:creationId xmlns:a16="http://schemas.microsoft.com/office/drawing/2014/main" id="{5DC47D0C-080F-465E-BBFC-0B11ACD6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B8C6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6CC"/>
                </a:solidFill>
                <a:latin typeface="Aptos"/>
                <a:ea typeface="Aptos"/>
                <a:cs typeface="Aptos"/>
              </a:rPr>
              <a:t>accuracy limpia obtenida</a:t>
            </a:r>
          </a:p>
        </p:txBody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280F8BF6-A527-49DE-BAFC-2A7300BB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162"/>
            </a:solidFill>
            <a:prstDash val="solid"/>
          </a:ln>
        </p:spPr>
      </p:sp>
      <p:sp>
        <p:nvSpPr>
          <p:cNvPr id="46" name="training-config">
            <a:extLst xmlns:a="http://schemas.openxmlformats.org/drawingml/2006/main">
              <a:ext uri="{FF2B5EF4-FFF2-40B4-BE49-F238E27FC236}">
                <a16:creationId xmlns:a16="http://schemas.microsoft.com/office/drawing/2014/main" id="{6C52196E-2E53-4AF6-A1F5-84769FA7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FC0C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FC0C8"/>
                </a:solidFill>
                <a:latin typeface="Aptos"/>
                <a:ea typeface="Aptos"/>
                <a:cs typeface="Aptos"/>
              </a:rPr>
              <a:t>Adam · batch 128 · máximo 20 épocas · Dropout 0.25 / 0.50 · EarlyStopping</a:t>
            </a:r>
          </a:p>
        </p:txBody>
      </p:sp>
      <p:sp>
        <p:nvSpPr>
          <p:cNvPr id="47" name="rule">
            <a:extLst xmlns:a="http://schemas.openxmlformats.org/drawingml/2006/main">
              <a:ext uri="{FF2B5EF4-FFF2-40B4-BE49-F238E27FC236}">
                <a16:creationId xmlns:a16="http://schemas.microsoft.com/office/drawing/2014/main" id="{A3668642-2BAE-44E1-82E6-3035A7C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5F"/>
            </a:solidFill>
            <a:prstDash val="solid"/>
          </a:ln>
        </p:spPr>
      </p:sp>
      <p:sp>
        <p:nvSpPr>
          <p:cNvPr id="48" name="footer">
            <a:extLst xmlns:a="http://schemas.openxmlformats.org/drawingml/2006/main">
              <a:ext uri="{FF2B5EF4-FFF2-40B4-BE49-F238E27FC236}">
                <a16:creationId xmlns:a16="http://schemas.microsoft.com/office/drawing/2014/main" id="{A328AD94-37E5-4D06-B4B3-2EA01DC2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4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385583-956B-4A43-BF27-EC5DFB7F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5337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4DA4E05A-0D16-45BD-BC7E-C8FA1A97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987A44-C4A4-4CDB-A741-63B812EE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La implementación integra entrenamiento y evaluación de vulnerabilidad</a:t>
            </a:r>
          </a:p>
        </p:txBody>
      </p:sp>
      <p:sp>
        <p:nvSpPr>
          <p:cNvPr id="3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A8647B66-6F9F-485F-B8F0-8D8AC944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9055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71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de-snippet">
            <a:extLst xmlns:a="http://schemas.openxmlformats.org/drawingml/2006/main">
              <a:ext uri="{FF2B5EF4-FFF2-40B4-BE49-F238E27FC236}">
                <a16:creationId xmlns:a16="http://schemas.microsoft.com/office/drawing/2014/main" id="{41C85672-E43C-43DE-B645-A7269130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5334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loss_fn = SparseCategoricalCrossentropy(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    from_logits=True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with tf.GradientTape() as tape: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    tape.watch(images)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    logits = model(images, training=False)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    loss = loss_fn(labels, logits)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grad = tape.gradient(loss, images)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6EFF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FF2"/>
                </a:solidFill>
                <a:latin typeface="Consolas"/>
                <a:ea typeface="Consolas"/>
                <a:cs typeface="Consolas"/>
              </a:rPr>
              <a:t>x_adv = images + epsilon * tf.sign(grad)</a:t>
            </a:r>
          </a:p>
        </p:txBody>
      </p:sp>
      <p:sp>
        <p:nvSpPr>
          <p:cNvPr id="5" name="bullet-01">
            <a:extLst xmlns:a="http://schemas.openxmlformats.org/drawingml/2006/main">
              <a:ext uri="{FF2B5EF4-FFF2-40B4-BE49-F238E27FC236}">
                <a16:creationId xmlns:a16="http://schemas.microsoft.com/office/drawing/2014/main" id="{45B2619B-B821-4D15-A518-7B1ED80E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0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bullet-head-01">
            <a:extLst xmlns:a="http://schemas.openxmlformats.org/drawingml/2006/main">
              <a:ext uri="{FF2B5EF4-FFF2-40B4-BE49-F238E27FC236}">
                <a16:creationId xmlns:a16="http://schemas.microsoft.com/office/drawing/2014/main" id="{FC9C248E-2021-42E8-AD60-5405027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90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Logits coherentes</a:t>
            </a:r>
          </a:p>
        </p:txBody>
      </p:sp>
      <p:sp>
        <p:nvSpPr>
          <p:cNvPr id="7" name="bullet-body-01">
            <a:extLst xmlns:a="http://schemas.openxmlformats.org/drawingml/2006/main">
              <a:ext uri="{FF2B5EF4-FFF2-40B4-BE49-F238E27FC236}">
                <a16:creationId xmlns:a16="http://schemas.microsoft.com/office/drawing/2014/main" id="{78A68B1B-BCDE-4E1F-BB86-AD6E8FBC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240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Dense(10) sin Softmax y pérdida configurada con from_logits=True.</a:t>
            </a:r>
          </a:p>
        </p:txBody>
      </p:sp>
      <p:sp>
        <p:nvSpPr>
          <p:cNvPr id="8" name="bullet-02">
            <a:extLst xmlns:a="http://schemas.openxmlformats.org/drawingml/2006/main">
              <a:ext uri="{FF2B5EF4-FFF2-40B4-BE49-F238E27FC236}">
                <a16:creationId xmlns:a16="http://schemas.microsoft.com/office/drawing/2014/main" id="{5148CD41-0E2D-4424-8B4B-28420F23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336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bullet-head-02">
            <a:extLst xmlns:a="http://schemas.openxmlformats.org/drawingml/2006/main">
              <a:ext uri="{FF2B5EF4-FFF2-40B4-BE49-F238E27FC236}">
                <a16:creationId xmlns:a16="http://schemas.microsoft.com/office/drawing/2014/main" id="{F5860712-946A-4045-99BE-02BCF52D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Reproducibilidad</a:t>
            </a:r>
          </a:p>
        </p:txBody>
      </p:sp>
      <p:sp>
        <p:nvSpPr>
          <p:cNvPr id="10" name="bullet-body-02">
            <a:extLst xmlns:a="http://schemas.openxmlformats.org/drawingml/2006/main">
              <a:ext uri="{FF2B5EF4-FFF2-40B4-BE49-F238E27FC236}">
                <a16:creationId xmlns:a16="http://schemas.microsoft.com/office/drawing/2014/main" id="{A3F82AE6-272F-47E9-B5C2-097B3EEF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575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Semilla 42 y determinismo cuando el entorno lo permite.</a:t>
            </a:r>
          </a:p>
        </p:txBody>
      </p:sp>
      <p:sp>
        <p:nvSpPr>
          <p:cNvPr id="11" name="bullet-03">
            <a:extLst xmlns:a="http://schemas.openxmlformats.org/drawingml/2006/main">
              <a:ext uri="{FF2B5EF4-FFF2-40B4-BE49-F238E27FC236}">
                <a16:creationId xmlns:a16="http://schemas.microsoft.com/office/drawing/2014/main" id="{EDB354E2-8509-47C3-A9E5-7F09042A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671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bullet-head-03">
            <a:extLst xmlns:a="http://schemas.openxmlformats.org/drawingml/2006/main">
              <a:ext uri="{FF2B5EF4-FFF2-40B4-BE49-F238E27FC236}">
                <a16:creationId xmlns:a16="http://schemas.microsoft.com/office/drawing/2014/main" id="{DA627D8B-27C3-4D73-AD97-A7F39AD8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57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Entrenamiento estable</a:t>
            </a:r>
          </a:p>
        </p:txBody>
      </p:sp>
      <p:sp>
        <p:nvSpPr>
          <p:cNvPr id="13" name="bullet-body-03">
            <a:extLst xmlns:a="http://schemas.openxmlformats.org/drawingml/2006/main">
              <a:ext uri="{FF2B5EF4-FFF2-40B4-BE49-F238E27FC236}">
                <a16:creationId xmlns:a16="http://schemas.microsoft.com/office/drawing/2014/main" id="{013EC2F2-2806-4541-AC93-E16E3674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909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EarlyStopping y ReduceLROnPlateau conservan los mejores pesos.</a:t>
            </a:r>
          </a:p>
        </p:txBody>
      </p:sp>
      <p:sp>
        <p:nvSpPr>
          <p:cNvPr id="14" name="bullet-04">
            <a:extLst xmlns:a="http://schemas.openxmlformats.org/drawingml/2006/main">
              <a:ext uri="{FF2B5EF4-FFF2-40B4-BE49-F238E27FC236}">
                <a16:creationId xmlns:a16="http://schemas.microsoft.com/office/drawing/2014/main" id="{6379B0A2-74A9-49BC-BE1B-05E4F763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00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bullet-head-04">
            <a:extLst xmlns:a="http://schemas.openxmlformats.org/drawingml/2006/main">
              <a:ext uri="{FF2B5EF4-FFF2-40B4-BE49-F238E27FC236}">
                <a16:creationId xmlns:a16="http://schemas.microsoft.com/office/drawing/2014/main" id="{7CC2F164-7DC7-4392-9549-ECCE531C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91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Evaluación FGSM</a:t>
            </a:r>
          </a:p>
        </p:txBody>
      </p:sp>
      <p:sp>
        <p:nvSpPr>
          <p:cNvPr id="16" name="bullet-body-04">
            <a:extLst xmlns:a="http://schemas.openxmlformats.org/drawingml/2006/main">
              <a:ext uri="{FF2B5EF4-FFF2-40B4-BE49-F238E27FC236}">
                <a16:creationId xmlns:a16="http://schemas.microsoft.com/office/drawing/2014/main" id="{32315F4A-0F55-4EC3-9B45-9380AC4C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244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Se perturba una copia de la entrada; el modelo permanece fijo y el dataset original se conserva.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ACE6D34-8380-4659-BB75-DC15747F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F7580A4-EF5D-44D8-B9E3-C9147AA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EEE442-B5DB-444F-A267-E763743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6076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f3099b97a45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oundary-panel">
            <a:extLst xmlns:a="http://schemas.openxmlformats.org/drawingml/2006/main">
              <a:ext uri="{FF2B5EF4-FFF2-40B4-BE49-F238E27FC236}">
                <a16:creationId xmlns:a16="http://schemas.microsoft.com/office/drawing/2014/main" id="{A183B470-D564-4693-951C-B08A021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oundary-eyebrow">
            <a:extLst xmlns:a="http://schemas.openxmlformats.org/drawingml/2006/main">
              <a:ext uri="{FF2B5EF4-FFF2-40B4-BE49-F238E27FC236}">
                <a16:creationId xmlns:a16="http://schemas.microsoft.com/office/drawing/2014/main" id="{01094728-5C91-42FB-A4BA-EFF8A00D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DE9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9E4"/>
                </a:solidFill>
                <a:latin typeface="Aptos"/>
                <a:ea typeface="Aptos"/>
                <a:cs typeface="Aptos"/>
              </a:rPr>
              <a:t>CONCEPTO</a:t>
            </a:r>
          </a:p>
        </p:txBody>
      </p:sp>
      <p:sp>
        <p:nvSpPr>
          <p:cNvPr id="4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12D244E0-D7B2-41DA-A82C-CB7848E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ataque no destruye la imagen: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desplaza la decisión</a:t>
            </a:r>
          </a:p>
        </p:txBody>
      </p:sp>
      <p:sp>
        <p:nvSpPr>
          <p:cNvPr id="5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1B8E85EB-77B5-4C66-8875-8403154C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D1DDE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1DDE2"/>
                </a:solidFill>
                <a:latin typeface="Aptos"/>
                <a:ea typeface="Aptos"/>
                <a:cs typeface="Aptos"/>
              </a:rPr>
              <a:t>FGSM usa el gradiente de la pérdida para elegir la dirección de cambio que más perjudica al modelo dentro de un límite ε.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D18F282-7552-490B-BC13-9888A18A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755A"/>
            </a:solidFill>
            <a:prstDash val="solid"/>
          </a:ln>
        </p:spPr>
      </p:sp>
      <p:sp>
        <p:nvSpPr>
          <p:cNvPr id="7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81A30C94-503E-458E-8077-2CF3AF6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8C8CF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B8C8CF"/>
                </a:solidFill>
                <a:latin typeface="Aptos"/>
                <a:ea typeface="Aptos"/>
                <a:cs typeface="Aptos"/>
              </a:rPr>
              <a:t>“Ataque” significa una prueba controlada sobre una copia de la imagen. No modifica los pesos ni el conjunto de datos.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8C18574-9621-495A-8BE4-EF4FDB02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5F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79A0E17-9AD8-4B22-81ED-02FE8164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A40266-EA93-4E93-BE9C-6907A444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3222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7272DFA-B09F-4FEE-A4D0-18B50650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FGSM · FAST GRADIENT SIGN 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E5D8D6-D17E-4D42-93E5-0BFDDBFD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Un solo paso convierte el gradiente en una perturbación acotada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44719997d40b0"/>
          <a:srcRect xmlns:a="http://schemas.openxmlformats.org/drawingml/2006/main" l="0" t="19923" r="0" b="19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109728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fgsm-clean">
            <a:extLst xmlns:a="http://schemas.openxmlformats.org/drawingml/2006/main">
              <a:ext uri="{FF2B5EF4-FFF2-40B4-BE49-F238E27FC236}">
                <a16:creationId xmlns:a16="http://schemas.microsoft.com/office/drawing/2014/main" id="{613655B5-7678-40CF-BE23-C151D4B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Imagen limpia</a:t>
            </a:r>
          </a:p>
        </p:txBody>
      </p:sp>
      <p:sp>
        <p:nvSpPr>
          <p:cNvPr id="5" name="fgsm-gradient">
            <a:extLst xmlns:a="http://schemas.openxmlformats.org/drawingml/2006/main">
              <a:ext uri="{FF2B5EF4-FFF2-40B4-BE49-F238E27FC236}">
                <a16:creationId xmlns:a16="http://schemas.microsoft.com/office/drawing/2014/main" id="{9F0FE57C-B7C4-4DE4-ACE0-0837E46A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C9A91"/>
                </a:solidFill>
                <a:latin typeface="Consolas"/>
                <a:ea typeface="Consolas"/>
                <a:cs typeface="Consolas"/>
              </a:rPr>
              <a:t>sign(∇ₓJ)</a:t>
            </a:r>
          </a:p>
        </p:txBody>
      </p:sp>
      <p:sp>
        <p:nvSpPr>
          <p:cNvPr id="6" name="fgsm-adversarial">
            <a:extLst xmlns:a="http://schemas.openxmlformats.org/drawingml/2006/main">
              <a:ext uri="{FF2B5EF4-FFF2-40B4-BE49-F238E27FC236}">
                <a16:creationId xmlns:a16="http://schemas.microsoft.com/office/drawing/2014/main" id="{2EC00A54-1E0D-4F78-8E1B-32A4B381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57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E875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755A"/>
                </a:solidFill>
                <a:latin typeface="Aptos"/>
                <a:ea typeface="Aptos"/>
                <a:cs typeface="Aptos"/>
              </a:rPr>
              <a:t>Ejemplo adversario</a:t>
            </a:r>
          </a:p>
        </p:txBody>
      </p:sp>
      <p:sp>
        <p:nvSpPr>
          <p:cNvPr id="7" name="formula-surface">
            <a:extLst xmlns:a="http://schemas.openxmlformats.org/drawingml/2006/main">
              <a:ext uri="{FF2B5EF4-FFF2-40B4-BE49-F238E27FC236}">
                <a16:creationId xmlns:a16="http://schemas.microsoft.com/office/drawing/2014/main" id="{C417394C-0FCF-4129-B4C5-5A459BFC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53050"/>
            <a:ext cx="7581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gsm-formula">
            <a:extLst xmlns:a="http://schemas.openxmlformats.org/drawingml/2006/main">
              <a:ext uri="{FF2B5EF4-FFF2-40B4-BE49-F238E27FC236}">
                <a16:creationId xmlns:a16="http://schemas.microsoft.com/office/drawing/2014/main" id="{CA4701AE-4CCD-49D8-85A6-F8B7B0BF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95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x_adv = clip(x + ε · sign(∇ₓJ(θ, x, y)), 0, 1)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C4761FD1-2305-494E-9EEB-AACA217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71D8BAF9-5CE3-4C7D-981D-5F4DFBF8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634088-9F76-4411-B65F-3B551AE3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6208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ECEF9005-5A57-4494-B401-18332813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DISEÑO EXPERIMENTAL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AB24BC-46FD-4680-8A0F-0FD435D5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El mismo modelo se evalúa siete veces con perturbaciones crecientes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7C7E91F-2A98-4B10-8E44-A73CCB23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C6B9"/>
            </a:solidFill>
            <a:prstDash val="solid"/>
          </a:ln>
        </p:spPr>
      </p:sp>
      <p:sp>
        <p:nvSpPr>
          <p:cNvPr id="4" name="step-circle-0">
            <a:extLst xmlns:a="http://schemas.openxmlformats.org/drawingml/2006/main">
              <a:ext uri="{FF2B5EF4-FFF2-40B4-BE49-F238E27FC236}">
                <a16:creationId xmlns:a16="http://schemas.microsoft.com/office/drawing/2014/main" id="{CBA29768-F05E-4C0B-BF0A-2FE1B67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24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6A74566A-808B-45B1-8903-319FC75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BB28BEEB-9AF0-4800-8050-3E935EE1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Entrenar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514DC42E-4CCF-4268-9F86-238EA5B2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619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Semilla 42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+ callbacks</a:t>
            </a:r>
          </a:p>
        </p:txBody>
      </p:sp>
      <p:sp>
        <p:nvSpPr>
          <p:cNvPr id="8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E0368C78-BE4E-46F8-AE58-89DE698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24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9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8FA35BF-81ED-438C-96A4-B877762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F0B4150-3107-42D4-85FD-1799558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426B24B8-D347-4155-AE73-4EA09EA5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19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Accuracy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limpia</a:t>
            </a:r>
          </a:p>
        </p:txBody>
      </p:sp>
      <p:sp>
        <p:nvSpPr>
          <p:cNvPr id="12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6072BEE5-514A-42DB-97C0-19999CA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24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9736ACBA-9772-4872-808B-12D8FFC1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5F07E8F5-81FF-4C44-B289-A22E4B32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Perturbar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D177DFB6-0860-4024-8077-B4C322C8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19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7 valores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de ε</a:t>
            </a:r>
          </a:p>
        </p:txBody>
      </p:sp>
      <p:sp>
        <p:nvSpPr>
          <p:cNvPr id="16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EA5EA458-55DD-4D36-8E76-5D3E1632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DE205B3-7488-49FB-A28F-1D435B1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47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071EDCB-4D7F-4278-914F-C8C99F8A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Evaluar</a:t>
            </a:r>
          </a:p>
        </p:txBody>
      </p:sp>
      <p:sp>
        <p:nvSpPr>
          <p:cNvPr id="19" name="step-body-3">
            <a:extLst xmlns:a="http://schemas.openxmlformats.org/drawingml/2006/main">
              <a:ext uri="{FF2B5EF4-FFF2-40B4-BE49-F238E27FC236}">
                <a16:creationId xmlns:a16="http://schemas.microsoft.com/office/drawing/2014/main" id="{210E1E52-04D5-4919-8426-131E159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Accuracy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robusta</a:t>
            </a:r>
          </a:p>
        </p:txBody>
      </p:sp>
      <p:sp>
        <p:nvSpPr>
          <p:cNvPr id="20" name="step-circle-4">
            <a:extLst xmlns:a="http://schemas.openxmlformats.org/drawingml/2006/main">
              <a:ext uri="{FF2B5EF4-FFF2-40B4-BE49-F238E27FC236}">
                <a16:creationId xmlns:a16="http://schemas.microsoft.com/office/drawing/2014/main" id="{0793A9DA-141C-4F3A-A424-861339A1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24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6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C0577DA4-BFD8-4E66-B9D8-82C80C83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479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CCBCC503-5E5A-43BC-80D7-AEDBBEC2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Comparar</a:t>
            </a:r>
          </a:p>
        </p:txBody>
      </p:sp>
      <p:sp>
        <p:nvSpPr>
          <p:cNvPr id="23" name="step-body-4">
            <a:extLst xmlns:a="http://schemas.openxmlformats.org/drawingml/2006/main">
              <a:ext uri="{FF2B5EF4-FFF2-40B4-BE49-F238E27FC236}">
                <a16:creationId xmlns:a16="http://schemas.microsoft.com/office/drawing/2014/main" id="{7797DDB8-BFBF-48FE-B34B-6A70B99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ASR 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tendencia</a:t>
            </a:r>
          </a:p>
        </p:txBody>
      </p:sp>
      <p:sp>
        <p:nvSpPr>
          <p:cNvPr id="24" name="epsilon-symbol">
            <a:extLst xmlns:a="http://schemas.openxmlformats.org/drawingml/2006/main">
              <a:ext uri="{FF2B5EF4-FFF2-40B4-BE49-F238E27FC236}">
                <a16:creationId xmlns:a16="http://schemas.microsoft.com/office/drawing/2014/main" id="{86FDE8DB-5119-42DC-A9ED-85D59CF6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rPr>
              <a:t>ε</a:t>
            </a:r>
          </a:p>
        </p:txBody>
      </p:sp>
      <p:sp>
        <p:nvSpPr>
          <p:cNvPr id="25" name="epsilon-grid">
            <a:extLst xmlns:a="http://schemas.openxmlformats.org/drawingml/2006/main">
              <a:ext uri="{FF2B5EF4-FFF2-40B4-BE49-F238E27FC236}">
                <a16:creationId xmlns:a16="http://schemas.microsoft.com/office/drawing/2014/main" id="{4C1FB83C-96F2-4E7A-A3F1-98CD007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2630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F2630"/>
                </a:solidFill>
                <a:latin typeface="Consolas"/>
                <a:ea typeface="Consolas"/>
                <a:cs typeface="Consolas"/>
              </a:rPr>
              <a:t>0.00   ·   0.01   ·   0.03   ·   0.05   ·   0.10   ·   0.20   ·   0.30</a:t>
            </a:r>
          </a:p>
        </p:txBody>
      </p:sp>
      <p:sp>
        <p:nvSpPr>
          <p:cNvPr id="26" name="asr-definition">
            <a:extLst xmlns:a="http://schemas.openxmlformats.org/drawingml/2006/main">
              <a:ext uri="{FF2B5EF4-FFF2-40B4-BE49-F238E27FC236}">
                <a16:creationId xmlns:a16="http://schemas.microsoft.com/office/drawing/2014/main" id="{F3F9D9DC-FF6C-4F0F-A8BD-B16FE28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ASR = proporción de aciertos iniciales que el ataque logra revertir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8B7D7510-40F3-4C58-8DBA-CECE2E57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10A1D592-A0CD-4DF0-96E7-C1F066FB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DF9514-F076-49DB-8D59-10FF99C0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8540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56CDFD8-1CCA-44FA-BD48-B59B8665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RESULTADO LIMPIO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1EE933-CD21-4C51-AF3B-AD524018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La CNN queda en el extremo superior del rango comparable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724f2b0c6d47c3"/>
          </a:graphicData>
        </a:graphic>
      </p:graphicFrame>
      <p:sp>
        <p:nvSpPr>
          <p:cNvPr id="4" name="benchmark-kpi">
            <a:extLst xmlns:a="http://schemas.openxmlformats.org/drawingml/2006/main">
              <a:ext uri="{FF2B5EF4-FFF2-40B4-BE49-F238E27FC236}">
                <a16:creationId xmlns:a16="http://schemas.microsoft.com/office/drawing/2014/main" id="{FBA4DDB6-0C0C-4FE4-9F2E-C5D13967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4350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rPr>
              <a:t>92.56%</a:t>
            </a:r>
          </a:p>
        </p:txBody>
      </p:sp>
      <p:sp>
        <p:nvSpPr>
          <p:cNvPr id="5" name="benchmark-label">
            <a:extLst xmlns:a="http://schemas.openxmlformats.org/drawingml/2006/main">
              <a:ext uri="{FF2B5EF4-FFF2-40B4-BE49-F238E27FC236}">
                <a16:creationId xmlns:a16="http://schemas.microsoft.com/office/drawing/2014/main" id="{5C84DDAF-8CAD-4CEA-8BF5-2BCB0071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resultado obtenido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F263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630"/>
                </a:solidFill>
                <a:latin typeface="Aptos"/>
                <a:ea typeface="Aptos"/>
                <a:cs typeface="Aptos"/>
              </a:rPr>
              <a:t>en la ejecución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D4B8C98F-EFDE-4070-A88F-87D8A558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755A"/>
            </a:solidFill>
            <a:prstDash val="solid"/>
          </a:ln>
        </p:spPr>
      </p:sp>
      <p:sp>
        <p:nvSpPr>
          <p:cNvPr id="7" name="benchmark-reading-label">
            <a:extLst xmlns:a="http://schemas.openxmlformats.org/drawingml/2006/main">
              <a:ext uri="{FF2B5EF4-FFF2-40B4-BE49-F238E27FC236}">
                <a16:creationId xmlns:a16="http://schemas.microsoft.com/office/drawing/2014/main" id="{E047CB9C-CD48-46AD-9F06-01547D02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E875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755A"/>
                </a:solidFill>
                <a:latin typeface="Aptos"/>
                <a:ea typeface="Aptos"/>
                <a:cs typeface="Aptos"/>
              </a:rPr>
              <a:t>Lectura</a:t>
            </a:r>
          </a:p>
        </p:txBody>
      </p:sp>
      <p:sp>
        <p:nvSpPr>
          <p:cNvPr id="8" name="benchmark-reading">
            <a:extLst xmlns:a="http://schemas.openxmlformats.org/drawingml/2006/main">
              <a:ext uri="{FF2B5EF4-FFF2-40B4-BE49-F238E27FC236}">
                <a16:creationId xmlns:a16="http://schemas.microsoft.com/office/drawing/2014/main" id="{669F4E9E-760F-48C3-8F55-C6A11DAB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010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La comparación limpia sigue siendo válida: la evaluación FGSM mide robustez y no busca incrementar la accuracy.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266446D8-5C8A-44E6-A0E2-271645E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EB910F4-7639-4603-8FA1-74FF099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52D6E-E007-43C3-B4EB-1C70BEEC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33856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B861AA1-198C-484F-8A00-9566A3E2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DE9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9E4"/>
                </a:solidFill>
                <a:latin typeface="Aptos"/>
                <a:ea typeface="Aptos"/>
                <a:cs typeface="Aptos"/>
              </a:rPr>
              <a:t>RESULTADOS FGSM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780ABF-7DFD-4AAE-A81D-A7DEF0C8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 ε = 0.05, el ataque ya revierte más de la mitad de los aciertos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90550" y="1581150"/>
          <a:ext xmlns:a="http://schemas.openxmlformats.org/drawingml/2006/main" cx="824865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88ea241fe64676"/>
          </a:graphicData>
        </a:graphic>
      </p:graphicFrame>
      <p:sp>
        <p:nvSpPr>
          <p:cNvPr id="4" name="asr-005">
            <a:extLst xmlns:a="http://schemas.openxmlformats.org/drawingml/2006/main">
              <a:ext uri="{FF2B5EF4-FFF2-40B4-BE49-F238E27FC236}">
                <a16:creationId xmlns:a16="http://schemas.microsoft.com/office/drawing/2014/main" id="{38BE0B21-E02A-4868-A843-A705BD51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45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rPr>
              <a:t>53.78%</a:t>
            </a:r>
          </a:p>
        </p:txBody>
      </p:sp>
      <p:sp>
        <p:nvSpPr>
          <p:cNvPr id="5" name="asr-005-label">
            <a:extLst xmlns:a="http://schemas.openxmlformats.org/drawingml/2006/main">
              <a:ext uri="{FF2B5EF4-FFF2-40B4-BE49-F238E27FC236}">
                <a16:creationId xmlns:a16="http://schemas.microsoft.com/office/drawing/2014/main" id="{475E7E7D-67F3-4E03-93A3-2682E6CA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ASR con ε = 0.05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BA70E6C-1550-40D4-8EBA-D61E997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5865"/>
            </a:solidFill>
            <a:prstDash val="solid"/>
          </a:ln>
        </p:spPr>
      </p:sp>
      <p:sp>
        <p:nvSpPr>
          <p:cNvPr id="7" name="robust-030">
            <a:extLst xmlns:a="http://schemas.openxmlformats.org/drawingml/2006/main">
              <a:ext uri="{FF2B5EF4-FFF2-40B4-BE49-F238E27FC236}">
                <a16:creationId xmlns:a16="http://schemas.microsoft.com/office/drawing/2014/main" id="{D83B84BA-5E67-4DF3-BF04-9BA3556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450" b="1">
                <a:solidFill>
                  <a:srgbClr val="CDE9E4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CDE9E4"/>
                </a:solidFill>
                <a:latin typeface="Aptos Display"/>
                <a:ea typeface="Aptos Display"/>
                <a:cs typeface="Aptos Display"/>
              </a:rPr>
              <a:t>6.57%</a:t>
            </a:r>
          </a:p>
        </p:txBody>
      </p:sp>
      <p:sp>
        <p:nvSpPr>
          <p:cNvPr id="8" name="robust-030-label">
            <a:extLst xmlns:a="http://schemas.openxmlformats.org/drawingml/2006/main">
              <a:ext uri="{FF2B5EF4-FFF2-40B4-BE49-F238E27FC236}">
                <a16:creationId xmlns:a16="http://schemas.microsoft.com/office/drawing/2014/main" id="{252EDC71-790E-4C4D-9D72-D9D95C4E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148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 robusta</a:t>
            </a:r>
          </a:p>
          <a:p xmlns:a="http://schemas.openxmlformats.org/drawingml/2006/main">
            <a:pPr algn="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 ε = 0.30</a:t>
            </a:r>
          </a:p>
        </p:txBody>
      </p:sp>
      <p:sp>
        <p:nvSpPr>
          <p:cNvPr id="9" name="trend-callout">
            <a:extLst xmlns:a="http://schemas.openxmlformats.org/drawingml/2006/main">
              <a:ext uri="{FF2B5EF4-FFF2-40B4-BE49-F238E27FC236}">
                <a16:creationId xmlns:a16="http://schemas.microsoft.com/office/drawing/2014/main" id="{BC1D0768-3F2C-4FC3-B36B-F63E2DF5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91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B6C5CC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B6C5CC"/>
                </a:solidFill>
                <a:latin typeface="Aptos"/>
                <a:ea typeface="Aptos"/>
                <a:cs typeface="Aptos"/>
              </a:rPr>
              <a:t>La tendencia es monotónica: robustez ↓ mientras ASR ↑.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54564C0-DBF0-4E44-AEA0-04DBDF5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5F"/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9B064C9-2C79-4922-B710-43EF4C0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36180E-FF23-4E98-B5DD-E21CF857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4626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615B830-5B1E-4775-8AF6-6266E829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LECTURA DE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D4DB59-5A69-4426-BECA-84E7C28F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F2630"/>
                </a:solidFill>
                <a:latin typeface="Aptos Display"/>
                <a:ea typeface="Aptos Display"/>
                <a:cs typeface="Aptos Display"/>
              </a:rPr>
              <a:t>El deterioro es monotónico y valida el comportamiento esperado de FGSM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6286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514600"/>
                <a:gridCol w="2514600"/>
              </a:tblGrid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ε</a:t>
                      </a:r>
                    </a:p>
                  </a:txBody>
                  <a:tcPr marL="95250" marR="95250" marT="76200" marB="76200" anchor="ctr">
                    <a:solidFill>
                      <a:srgbClr val="07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Accuracy robusta</a:t>
                      </a:r>
                    </a:p>
                  </a:txBody>
                  <a:tcPr marL="95250" marR="95250" marT="76200" marB="76200" anchor="ctr">
                    <a:solidFill>
                      <a:srgbClr val="0718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ASR</a:t>
                      </a:r>
                    </a:p>
                  </a:txBody>
                  <a:tcPr marL="95250" marR="95250" marT="76200" marB="76200" anchor="ctr">
                    <a:solidFill>
                      <a:srgbClr val="07182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F2630"/>
                          </a:solidFill>
                        </a:rPr>
                        <a:t>0.00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F2630"/>
                          </a:solidFill>
                        </a:rPr>
                        <a:t>92.56%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F2630"/>
                          </a:solidFill>
                        </a:rPr>
                        <a:t>0.00%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0.01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81.96%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11.45%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0.03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59.57%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35.64%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0.05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42.78%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53.78%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0.10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23.03%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75.12%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0.20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9.61%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F2630"/>
                          </a:solidFill>
                        </a:rPr>
                        <a:t>89.63%</a:t>
                      </a:r>
                    </a:p>
                  </a:txBody>
                  <a:tcPr marL="95250" marR="95250" marT="66675" marB="66675" anchor="ctr">
                    <a:solidFill>
                      <a:srgbClr val="ECE6D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F2630"/>
                          </a:solidFill>
                        </a:rPr>
                        <a:t>0.30</a:t>
                      </a:r>
                    </a:p>
                  </a:txBody>
                  <a:tcPr marL="95250" marR="95250" marT="66675" marB="66675" anchor="ctr">
                    <a:solidFill>
                      <a:srgbClr val="F5D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F2630"/>
                          </a:solidFill>
                        </a:rPr>
                        <a:t>6.57%</a:t>
                      </a:r>
                    </a:p>
                  </a:txBody>
                  <a:tcPr marL="95250" marR="95250" marT="66675" marB="66675" anchor="ctr">
                    <a:solidFill>
                      <a:srgbClr val="F5D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F2630"/>
                          </a:solidFill>
                        </a:rPr>
                        <a:t>93.06%</a:t>
                      </a:r>
                    </a:p>
                  </a:txBody>
                  <a:tcPr marL="95250" marR="95250" marT="66675" marB="66675" anchor="ctr">
                    <a:solidFill>
                      <a:srgbClr val="F5D5CC"/>
                    </a:solidFill>
                  </a:tcPr>
                </a:tc>
              </a:tr>
            </a:tbl>
          </a:graphicData>
        </a:graphic>
      </p:graphicFrame>
      <p:sp>
        <p:nvSpPr>
          <p:cNvPr id="4" name="control-head">
            <a:extLst xmlns:a="http://schemas.openxmlformats.org/drawingml/2006/main">
              <a:ext uri="{FF2B5EF4-FFF2-40B4-BE49-F238E27FC236}">
                <a16:creationId xmlns:a16="http://schemas.microsoft.com/office/drawing/2014/main" id="{3487BB73-06F7-4680-8B04-2690BDAA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C9A91"/>
                </a:solidFill>
                <a:latin typeface="Aptos Display"/>
                <a:ea typeface="Aptos Display"/>
                <a:cs typeface="Aptos Display"/>
              </a:rPr>
              <a:t>ε = 0 funciona como control</a:t>
            </a:r>
          </a:p>
        </p:txBody>
      </p:sp>
      <p:sp>
        <p:nvSpPr>
          <p:cNvPr id="5" name="control-body">
            <a:extLst xmlns:a="http://schemas.openxmlformats.org/drawingml/2006/main">
              <a:ext uri="{FF2B5EF4-FFF2-40B4-BE49-F238E27FC236}">
                <a16:creationId xmlns:a16="http://schemas.microsoft.com/office/drawing/2014/main" id="{83FECDBB-5FBB-41CA-9733-939FBDB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La accuracy robusta coincide exactamente con la accuracy limpia y la ASR es 0%. Esto respalda que la evaluación adversaria está implementada de forma coherente.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A6B53CB-813F-4E42-8ECB-792FBCFF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755A"/>
            </a:solidFill>
            <a:prstDash val="solid"/>
          </a:ln>
        </p:spPr>
      </p:sp>
      <p:sp>
        <p:nvSpPr>
          <p:cNvPr id="7" name="fragility-head">
            <a:extLst xmlns:a="http://schemas.openxmlformats.org/drawingml/2006/main">
              <a:ext uri="{FF2B5EF4-FFF2-40B4-BE49-F238E27FC236}">
                <a16:creationId xmlns:a16="http://schemas.microsoft.com/office/drawing/2014/main" id="{9E7E0666-9E15-4B82-B3FB-34DAC145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rPr>
              <a:t>ε = 0.30 revela la fragilidad</a:t>
            </a:r>
          </a:p>
        </p:txBody>
      </p:sp>
      <p:sp>
        <p:nvSpPr>
          <p:cNvPr id="8" name="fragility-body">
            <a:extLst xmlns:a="http://schemas.openxmlformats.org/drawingml/2006/main">
              <a:ext uri="{FF2B5EF4-FFF2-40B4-BE49-F238E27FC236}">
                <a16:creationId xmlns:a16="http://schemas.microsoft.com/office/drawing/2014/main" id="{9F0C93E6-F605-4A43-BFC4-EB606DEE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La robustez cae a 6.57% y el ataque revierte 93.06% de los aciertos iniciales.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7D0A7ED3-6BD4-496D-8EB6-3E39372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C6B9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38F68914-0FCB-4CE9-A80E-5903F06A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A03962-2492-4E81-98EA-0BB7BCC2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66717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265722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B76628FC-A4F1-4081-B3D2-1153E881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DE9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9E4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BC8455-7449-4011-A827-650109D2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exactitud limpia describe desempeño; la robustez describe estabilidad</a:t>
            </a:r>
          </a:p>
        </p:txBody>
      </p:sp>
      <p:sp>
        <p:nvSpPr>
          <p:cNvPr id="3" name="bullet-01">
            <a:extLst xmlns:a="http://schemas.openxmlformats.org/drawingml/2006/main">
              <a:ext uri="{FF2B5EF4-FFF2-40B4-BE49-F238E27FC236}">
                <a16:creationId xmlns:a16="http://schemas.microsoft.com/office/drawing/2014/main" id="{25B69A32-CCD8-40FD-A5C5-19182D9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bullet-head-01">
            <a:extLst xmlns:a="http://schemas.openxmlformats.org/drawingml/2006/main">
              <a:ext uri="{FF2B5EF4-FFF2-40B4-BE49-F238E27FC236}">
                <a16:creationId xmlns:a16="http://schemas.microsoft.com/office/drawing/2014/main" id="{94790106-4034-4557-BA82-A7B4B313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modelo clasifica bien</a:t>
            </a:r>
          </a:p>
        </p:txBody>
      </p:sp>
      <p:sp>
        <p:nvSpPr>
          <p:cNvPr id="5" name="bullet-body-01">
            <a:extLst xmlns:a="http://schemas.openxmlformats.org/drawingml/2006/main">
              <a:ext uri="{FF2B5EF4-FFF2-40B4-BE49-F238E27FC236}">
                <a16:creationId xmlns:a16="http://schemas.microsoft.com/office/drawing/2014/main" id="{7A82E41A-0E71-48E2-A309-24104FB0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050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La CNN obtiene 92.56% sobre las imágenes limpias de prueba.</a:t>
            </a:r>
          </a:p>
        </p:txBody>
      </p:sp>
      <p:sp>
        <p:nvSpPr>
          <p:cNvPr id="6" name="bullet-02">
            <a:extLst xmlns:a="http://schemas.openxmlformats.org/drawingml/2006/main">
              <a:ext uri="{FF2B5EF4-FFF2-40B4-BE49-F238E27FC236}">
                <a16:creationId xmlns:a16="http://schemas.microsoft.com/office/drawing/2014/main" id="{9A2C62AF-1D0D-46A2-B852-4DFF60BB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bullet-head-02">
            <a:extLst xmlns:a="http://schemas.openxmlformats.org/drawingml/2006/main">
              <a:ext uri="{FF2B5EF4-FFF2-40B4-BE49-F238E27FC236}">
                <a16:creationId xmlns:a16="http://schemas.microsoft.com/office/drawing/2014/main" id="{B7D55956-DBAB-4D44-8D0B-BFE3B573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validación interna es consistente</a:t>
            </a:r>
          </a:p>
        </p:txBody>
      </p:sp>
      <p:sp>
        <p:nvSpPr>
          <p:cNvPr id="8" name="bullet-body-02">
            <a:extLst xmlns:a="http://schemas.openxmlformats.org/drawingml/2006/main">
              <a:ext uri="{FF2B5EF4-FFF2-40B4-BE49-F238E27FC236}">
                <a16:creationId xmlns:a16="http://schemas.microsoft.com/office/drawing/2014/main" id="{6638D33B-655E-4932-8160-466BEA1B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575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Con ε = 0, robusta = limpia y ASR = 0%.</a:t>
            </a:r>
          </a:p>
        </p:txBody>
      </p:sp>
      <p:sp>
        <p:nvSpPr>
          <p:cNvPr id="9" name="bullet-03">
            <a:extLst xmlns:a="http://schemas.openxmlformats.org/drawingml/2006/main">
              <a:ext uri="{FF2B5EF4-FFF2-40B4-BE49-F238E27FC236}">
                <a16:creationId xmlns:a16="http://schemas.microsoft.com/office/drawing/2014/main" id="{31E5FECC-CB70-4304-9B44-8CC5F911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bullet-head-03">
            <a:extLst xmlns:a="http://schemas.openxmlformats.org/drawingml/2006/main">
              <a:ext uri="{FF2B5EF4-FFF2-40B4-BE49-F238E27FC236}">
                <a16:creationId xmlns:a16="http://schemas.microsoft.com/office/drawing/2014/main" id="{0CABA32C-D553-426D-9F04-D889F30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vulnerabilidad crece con ε</a:t>
            </a:r>
          </a:p>
        </p:txBody>
      </p:sp>
      <p:sp>
        <p:nvSpPr>
          <p:cNvPr id="11" name="bullet-body-03">
            <a:extLst xmlns:a="http://schemas.openxmlformats.org/drawingml/2006/main">
              <a:ext uri="{FF2B5EF4-FFF2-40B4-BE49-F238E27FC236}">
                <a16:creationId xmlns:a16="http://schemas.microsoft.com/office/drawing/2014/main" id="{52E440FC-A887-4AE7-A9D7-B9D779AD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La accuracy robusta desciende y la ASR aumenta en cada nivel evaluado.</a:t>
            </a:r>
          </a:p>
        </p:txBody>
      </p:sp>
      <p:sp>
        <p:nvSpPr>
          <p:cNvPr id="12" name="bullet-04">
            <a:extLst xmlns:a="http://schemas.openxmlformats.org/drawingml/2006/main">
              <a:ext uri="{FF2B5EF4-FFF2-40B4-BE49-F238E27FC236}">
                <a16:creationId xmlns:a16="http://schemas.microsoft.com/office/drawing/2014/main" id="{7F78FDD4-C1DF-4B51-8419-EBD992B0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bullet-head-04">
            <a:extLst xmlns:a="http://schemas.openxmlformats.org/drawingml/2006/main">
              <a:ext uri="{FF2B5EF4-FFF2-40B4-BE49-F238E27FC236}">
                <a16:creationId xmlns:a16="http://schemas.microsoft.com/office/drawing/2014/main" id="{66492236-C2BF-4501-B883-BDD5507D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FGSM diagnostica; no mejora accuracy</a:t>
            </a:r>
          </a:p>
        </p:txBody>
      </p:sp>
      <p:sp>
        <p:nvSpPr>
          <p:cNvPr id="14" name="bullet-body-04">
            <a:extLst xmlns:a="http://schemas.openxmlformats.org/drawingml/2006/main">
              <a:ext uri="{FF2B5EF4-FFF2-40B4-BE49-F238E27FC236}">
                <a16:creationId xmlns:a16="http://schemas.microsoft.com/office/drawing/2014/main" id="{6B4E272B-825C-4CC2-8768-45AFCE5E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9C7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7CE"/>
                </a:solidFill>
                <a:latin typeface="Aptos"/>
                <a:ea typeface="Aptos"/>
                <a:cs typeface="Aptos"/>
              </a:rPr>
              <a:t>Para aumentar resistencia se requiere entrenamiento adversarial u otra defensa.</a:t>
            </a:r>
          </a:p>
        </p:txBody>
      </p:sp>
      <p:sp>
        <p:nvSpPr>
          <p:cNvPr id="15" name="conclusion-metric">
            <a:extLst xmlns:a="http://schemas.openxmlformats.org/drawingml/2006/main">
              <a:ext uri="{FF2B5EF4-FFF2-40B4-BE49-F238E27FC236}">
                <a16:creationId xmlns:a16="http://schemas.microsoft.com/office/drawing/2014/main" id="{DEA30F39-21F6-4C63-8F35-0882E320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4629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clusion-clean">
            <a:extLst xmlns:a="http://schemas.openxmlformats.org/drawingml/2006/main">
              <a:ext uri="{FF2B5EF4-FFF2-40B4-BE49-F238E27FC236}">
                <a16:creationId xmlns:a16="http://schemas.microsoft.com/office/drawing/2014/main" id="{856B7E38-231C-49A9-A505-886787FA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DE9E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CDE9E4"/>
                </a:solidFill>
                <a:latin typeface="Aptos Display"/>
                <a:ea typeface="Aptos Display"/>
                <a:cs typeface="Aptos Display"/>
              </a:rPr>
              <a:t>92.56%</a:t>
            </a:r>
          </a:p>
        </p:txBody>
      </p:sp>
      <p:sp>
        <p:nvSpPr>
          <p:cNvPr id="17" name="conclusion-robust">
            <a:extLst xmlns:a="http://schemas.openxmlformats.org/drawingml/2006/main">
              <a:ext uri="{FF2B5EF4-FFF2-40B4-BE49-F238E27FC236}">
                <a16:creationId xmlns:a16="http://schemas.microsoft.com/office/drawing/2014/main" id="{B8EB710E-51C3-4103-B373-F0D85950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rPr>
              <a:t>6.57%</a:t>
            </a:r>
          </a:p>
        </p:txBody>
      </p:sp>
      <p:sp>
        <p:nvSpPr>
          <p:cNvPr id="18" name="conclusion-arrow">
            <a:extLst xmlns:a="http://schemas.openxmlformats.org/drawingml/2006/main">
              <a:ext uri="{FF2B5EF4-FFF2-40B4-BE49-F238E27FC236}">
                <a16:creationId xmlns:a16="http://schemas.microsoft.com/office/drawing/2014/main" id="{4E5F9139-0B33-4E50-B3F3-F7D0C4A1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clusion-clean-label">
            <a:extLst xmlns:a="http://schemas.openxmlformats.org/drawingml/2006/main">
              <a:ext uri="{FF2B5EF4-FFF2-40B4-BE49-F238E27FC236}">
                <a16:creationId xmlns:a16="http://schemas.microsoft.com/office/drawing/2014/main" id="{4464F176-8E8F-4F7A-A1D1-813CF3A6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9C8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8CF"/>
                </a:solidFill>
                <a:latin typeface="Aptos"/>
                <a:ea typeface="Aptos"/>
                <a:cs typeface="Aptos"/>
              </a:rPr>
              <a:t>limpia</a:t>
            </a:r>
          </a:p>
        </p:txBody>
      </p:sp>
      <p:sp>
        <p:nvSpPr>
          <p:cNvPr id="20" name="conclusion-robust-label">
            <a:extLst xmlns:a="http://schemas.openxmlformats.org/drawingml/2006/main">
              <a:ext uri="{FF2B5EF4-FFF2-40B4-BE49-F238E27FC236}">
                <a16:creationId xmlns:a16="http://schemas.microsoft.com/office/drawing/2014/main" id="{B4F2C960-F4B4-4267-98BF-0E0DCE1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B9C8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8CF"/>
                </a:solidFill>
                <a:latin typeface="Aptos"/>
                <a:ea typeface="Aptos"/>
                <a:cs typeface="Aptos"/>
              </a:rPr>
              <a:t>robusta (ε=0.30)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BB713B6F-85F0-41B5-83A2-7C318BD0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160"/>
            </a:solidFill>
            <a:prstDash val="solid"/>
          </a:ln>
        </p:spPr>
      </p:sp>
      <p:sp>
        <p:nvSpPr>
          <p:cNvPr id="22" name="conclusion-asr">
            <a:extLst xmlns:a="http://schemas.openxmlformats.org/drawingml/2006/main">
              <a:ext uri="{FF2B5EF4-FFF2-40B4-BE49-F238E27FC236}">
                <a16:creationId xmlns:a16="http://schemas.microsoft.com/office/drawing/2014/main" id="{82C3DB11-94FE-4484-BEE3-69D0FF0F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E8755A"/>
                </a:solidFill>
                <a:latin typeface="Aptos Display"/>
                <a:ea typeface="Aptos Display"/>
                <a:cs typeface="Aptos Display"/>
              </a:rPr>
              <a:t>93.06%</a:t>
            </a:r>
          </a:p>
        </p:txBody>
      </p:sp>
      <p:sp>
        <p:nvSpPr>
          <p:cNvPr id="23" name="conclusion-asr-label">
            <a:extLst xmlns:a="http://schemas.openxmlformats.org/drawingml/2006/main">
              <a:ext uri="{FF2B5EF4-FFF2-40B4-BE49-F238E27FC236}">
                <a16:creationId xmlns:a16="http://schemas.microsoft.com/office/drawing/2014/main" id="{3C92824D-9E31-43CB-A4FD-AAA1381C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19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tasa de éxito del ataque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DC59BEDC-B3D2-4379-B4F1-D04CFDC3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5F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8E8A7E06-9E0C-4B3F-AFE2-5887E1ED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843061-3E80-4B3C-B2E9-B36D183C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4327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9eb3633304ce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efense-panel">
            <a:extLst xmlns:a="http://schemas.openxmlformats.org/drawingml/2006/main">
              <a:ext uri="{FF2B5EF4-FFF2-40B4-BE49-F238E27FC236}">
                <a16:creationId xmlns:a16="http://schemas.microsoft.com/office/drawing/2014/main" id="{5F794491-BAF0-4A52-A904-11CE99D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fense-eyebrow">
            <a:extLst xmlns:a="http://schemas.openxmlformats.org/drawingml/2006/main">
              <a:ext uri="{FF2B5EF4-FFF2-40B4-BE49-F238E27FC236}">
                <a16:creationId xmlns:a16="http://schemas.microsoft.com/office/drawing/2014/main" id="{5B9AECD2-93D3-4173-92E8-36D5F7C6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DE9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DE9E4"/>
                </a:solidFill>
                <a:latin typeface="Aptos"/>
                <a:ea typeface="Aptos"/>
                <a:cs typeface="Aptos"/>
              </a:rPr>
              <a:t>SIGUIENTE FASE</a:t>
            </a:r>
          </a:p>
        </p:txBody>
      </p:sp>
      <p:sp>
        <p:nvSpPr>
          <p:cNvPr id="4" name="defense-title">
            <a:extLst xmlns:a="http://schemas.openxmlformats.org/drawingml/2006/main">
              <a:ext uri="{FF2B5EF4-FFF2-40B4-BE49-F238E27FC236}">
                <a16:creationId xmlns:a16="http://schemas.microsoft.com/office/drawing/2014/main" id="{A79C0AF1-DBB9-4765-9017-73E490F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4533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mejora siguiente no es otra CNN: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es entrenarla contra el ataque</a:t>
            </a:r>
          </a:p>
        </p:txBody>
      </p:sp>
      <p:sp>
        <p:nvSpPr>
          <p:cNvPr id="5" name="defense-1">
            <a:extLst xmlns:a="http://schemas.openxmlformats.org/drawingml/2006/main">
              <a:ext uri="{FF2B5EF4-FFF2-40B4-BE49-F238E27FC236}">
                <a16:creationId xmlns:a16="http://schemas.microsoft.com/office/drawing/2014/main" id="{905C5160-9F2B-461C-A0A3-86A8F2EA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defense-head-1">
            <a:extLst xmlns:a="http://schemas.openxmlformats.org/drawingml/2006/main">
              <a:ext uri="{FF2B5EF4-FFF2-40B4-BE49-F238E27FC236}">
                <a16:creationId xmlns:a16="http://schemas.microsoft.com/office/drawing/2014/main" id="{63983792-525B-41D0-94FF-0BE8CD9B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Entrenamiento adversarial</a:t>
            </a:r>
          </a:p>
        </p:txBody>
      </p:sp>
      <p:sp>
        <p:nvSpPr>
          <p:cNvPr id="7" name="defense-body-1">
            <a:extLst xmlns:a="http://schemas.openxmlformats.org/drawingml/2006/main">
              <a:ext uri="{FF2B5EF4-FFF2-40B4-BE49-F238E27FC236}">
                <a16:creationId xmlns:a16="http://schemas.microsoft.com/office/drawing/2014/main" id="{CC7B5D0E-8343-45FC-9009-4453455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C2D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0D6"/>
                </a:solidFill>
                <a:latin typeface="Aptos"/>
                <a:ea typeface="Aptos"/>
                <a:cs typeface="Aptos"/>
              </a:rPr>
              <a:t>Mezclar ejemplos limpios y FGSM durante el entrenamiento.</a:t>
            </a:r>
          </a:p>
        </p:txBody>
      </p:sp>
      <p:sp>
        <p:nvSpPr>
          <p:cNvPr id="8" name="defense-2">
            <a:extLst xmlns:a="http://schemas.openxmlformats.org/drawingml/2006/main">
              <a:ext uri="{FF2B5EF4-FFF2-40B4-BE49-F238E27FC236}">
                <a16:creationId xmlns:a16="http://schemas.microsoft.com/office/drawing/2014/main" id="{192879A8-FC1E-40C2-990A-393DF9C5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E875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75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defense-head-2">
            <a:extLst xmlns:a="http://schemas.openxmlformats.org/drawingml/2006/main">
              <a:ext uri="{FF2B5EF4-FFF2-40B4-BE49-F238E27FC236}">
                <a16:creationId xmlns:a16="http://schemas.microsoft.com/office/drawing/2014/main" id="{C53AEAE8-42D0-4C37-A89B-0F0FDA7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Ataque de validación más fuerte</a:t>
            </a:r>
          </a:p>
        </p:txBody>
      </p:sp>
      <p:sp>
        <p:nvSpPr>
          <p:cNvPr id="10" name="defense-body-2">
            <a:extLst xmlns:a="http://schemas.openxmlformats.org/drawingml/2006/main">
              <a:ext uri="{FF2B5EF4-FFF2-40B4-BE49-F238E27FC236}">
                <a16:creationId xmlns:a16="http://schemas.microsoft.com/office/drawing/2014/main" id="{26E24A86-6F60-4FDA-B574-E5A11E3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C2D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0D6"/>
                </a:solidFill>
                <a:latin typeface="Aptos"/>
                <a:ea typeface="Aptos"/>
                <a:cs typeface="Aptos"/>
              </a:rPr>
              <a:t>Añadir PGD para comprobar la robustez con una evaluación iterativa.</a:t>
            </a:r>
          </a:p>
        </p:txBody>
      </p:sp>
      <p:sp>
        <p:nvSpPr>
          <p:cNvPr id="11" name="defense-3">
            <a:extLst xmlns:a="http://schemas.openxmlformats.org/drawingml/2006/main">
              <a:ext uri="{FF2B5EF4-FFF2-40B4-BE49-F238E27FC236}">
                <a16:creationId xmlns:a16="http://schemas.microsoft.com/office/drawing/2014/main" id="{E3751A0B-EC1E-47D8-A85A-68C114FB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C9A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9A9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defense-head-3">
            <a:extLst xmlns:a="http://schemas.openxmlformats.org/drawingml/2006/main">
              <a:ext uri="{FF2B5EF4-FFF2-40B4-BE49-F238E27FC236}">
                <a16:creationId xmlns:a16="http://schemas.microsoft.com/office/drawing/2014/main" id="{D3F43D3E-2E8A-4266-9963-25FF7CA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Comparación final</a:t>
            </a:r>
          </a:p>
        </p:txBody>
      </p:sp>
      <p:sp>
        <p:nvSpPr>
          <p:cNvPr id="13" name="defense-body-3">
            <a:extLst xmlns:a="http://schemas.openxmlformats.org/drawingml/2006/main">
              <a:ext uri="{FF2B5EF4-FFF2-40B4-BE49-F238E27FC236}">
                <a16:creationId xmlns:a16="http://schemas.microsoft.com/office/drawing/2014/main" id="{C0014C78-6954-4891-ADDE-E2B92465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C2D0D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2D0D6"/>
                </a:solidFill>
                <a:latin typeface="Aptos"/>
                <a:ea typeface="Aptos"/>
                <a:cs typeface="Aptos"/>
              </a:rPr>
              <a:t>CNN estándar vs. CNN entrenada adversarialmente, con accuracy limpia y robusta.</a:t>
            </a:r>
          </a:p>
        </p:txBody>
      </p:sp>
      <p:sp>
        <p:nvSpPr>
          <p:cNvPr id="14" name="questions">
            <a:extLst xmlns:a="http://schemas.openxmlformats.org/drawingml/2006/main">
              <a:ext uri="{FF2B5EF4-FFF2-40B4-BE49-F238E27FC236}">
                <a16:creationId xmlns:a16="http://schemas.microsoft.com/office/drawing/2014/main" id="{59457CC1-3419-48B5-B55A-F0CC4FC6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86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Preguntas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CB98E0E-3361-4E7F-9480-54F7D40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5F"/>
            </a:solidFill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586DFDF-4A65-4F80-A239-CF4C76DF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Diploma de Especialización en Data Analytics · Deep Learning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AEA970-5D02-4E8D-A73D-9FB4BD21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AAB9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9C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62291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2026-08-18T22:36:27.8480000Z</dcterms:created>
  <dcterms:modified xsi:type="dcterms:W3CDTF">2026-08-18T22:36:27.8480000Z</dcterms:modified>
</coreProperties>
</file>